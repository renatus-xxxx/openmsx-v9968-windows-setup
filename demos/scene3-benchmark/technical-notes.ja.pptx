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3309baa6b5453e" /><Relationship Type="http://schemas.openxmlformats.org/officeDocument/2006/relationships/extended-properties" Target="/docProps/app.xml" Id="R032462d71ba04ae2" /><Relationship Type="http://schemas.openxmlformats.org/officeDocument/2006/relationships/officeDocument" Target="/ppt/presentation.xml" Id="R05c174beafb64a99" /></Relationships>
</file>

<file path=ppt/presentation.xml><?xml version="1.0" encoding="utf-8"?>
<p:presentation xmlns:p="http://schemas.openxmlformats.org/presentationml/2006/main">
  <p:sldMasterIdLst>
    <p:sldMasterId xmlns:r="http://schemas.openxmlformats.org/officeDocument/2006/relationships" id="2147483648" r:id="R5e8ba438d77f4a1e"/>
  </p:sldMasterIdLst>
  <p:notesMasterIdLst>
    <p:notesMasterId xmlns:r="http://schemas.openxmlformats.org/officeDocument/2006/relationships" r:id="R3011098fb4874e65"/>
  </p:notesMasterIdLst>
  <p:sldIdLst>
    <p:sldId xmlns:r="http://schemas.openxmlformats.org/officeDocument/2006/relationships" id="256" r:id="R9bd3146e074b4df4"/>
    <p:sldId xmlns:r="http://schemas.openxmlformats.org/officeDocument/2006/relationships" id="257" r:id="Rd9779e99ea034818"/>
    <p:sldId xmlns:r="http://schemas.openxmlformats.org/officeDocument/2006/relationships" id="258" r:id="R993ef44496864a16"/>
    <p:sldId xmlns:r="http://schemas.openxmlformats.org/officeDocument/2006/relationships" id="259" r:id="R05c7f8413f18458c"/>
    <p:sldId xmlns:r="http://schemas.openxmlformats.org/officeDocument/2006/relationships" id="260" r:id="R7fb43f3f56fa405a"/>
    <p:sldId xmlns:r="http://schemas.openxmlformats.org/officeDocument/2006/relationships" id="261" r:id="Rbbd762e885744900"/>
    <p:sldId xmlns:r="http://schemas.openxmlformats.org/officeDocument/2006/relationships" id="262" r:id="R39ae4bd451964f15"/>
    <p:sldId xmlns:r="http://schemas.openxmlformats.org/officeDocument/2006/relationships" id="263" r:id="R5b8aeb099f284487"/>
    <p:sldId xmlns:r="http://schemas.openxmlformats.org/officeDocument/2006/relationships" id="264" r:id="R3c926ed8a09e4b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55694c433b4dad" /><Relationship Type="http://schemas.openxmlformats.org/officeDocument/2006/relationships/slideMaster" Target="/ppt/slideMasters/slideMaster1.xml" Id="R5e8ba438d77f4a1e" /><Relationship Type="http://schemas.openxmlformats.org/officeDocument/2006/relationships/notesMaster" Target="/ppt/notesMasters/notesMaster1.xml" Id="R3011098fb4874e65" /><Relationship Type="http://schemas.openxmlformats.org/officeDocument/2006/relationships/presProps" Target="/ppt/presProps.xml" Id="R4c266d82293a472b" /><Relationship Type="http://schemas.openxmlformats.org/officeDocument/2006/relationships/tableStyles" Target="/ppt/tableStyles.xml" Id="Rc8937cfc6eb748ec" /><Relationship Type="http://schemas.openxmlformats.org/officeDocument/2006/relationships/slide" Target="/ppt/slides/slide1.xml" Id="R9bd3146e074b4df4" /><Relationship Type="http://schemas.openxmlformats.org/officeDocument/2006/relationships/slide" Target="/ppt/slides/slide2.xml" Id="Rd9779e99ea034818" /><Relationship Type="http://schemas.openxmlformats.org/officeDocument/2006/relationships/slide" Target="/ppt/slides/slide3.xml" Id="R993ef44496864a16" /><Relationship Type="http://schemas.openxmlformats.org/officeDocument/2006/relationships/slide" Target="/ppt/slides/slide4.xml" Id="R05c7f8413f18458c" /><Relationship Type="http://schemas.openxmlformats.org/officeDocument/2006/relationships/slide" Target="/ppt/slides/slide5.xml" Id="R7fb43f3f56fa405a" /><Relationship Type="http://schemas.openxmlformats.org/officeDocument/2006/relationships/slide" Target="/ppt/slides/slide6.xml" Id="Rbbd762e885744900" /><Relationship Type="http://schemas.openxmlformats.org/officeDocument/2006/relationships/slide" Target="/ppt/slides/slide7.xml" Id="R39ae4bd451964f15" /><Relationship Type="http://schemas.openxmlformats.org/officeDocument/2006/relationships/slide" Target="/ppt/slides/slide8.xml" Id="R5b8aeb099f284487" /><Relationship Type="http://schemas.openxmlformats.org/officeDocument/2006/relationships/slide" Target="/ppt/slides/slide9.xml" Id="R3c926ed8a09e4b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732887b24749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e4f02cfc814f51" /><Relationship Type="http://schemas.openxmlformats.org/officeDocument/2006/relationships/notesMaster" Target="/ppt/notesMasters/notesMaster1.xml" Id="R53f546f24b9449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2b16439a464128" /><Relationship Type="http://schemas.openxmlformats.org/officeDocument/2006/relationships/notesMaster" Target="/ppt/notesMasters/notesMaster1.xml" Id="R7ecdb82ae81b4e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d5ed6f674b494d" /><Relationship Type="http://schemas.openxmlformats.org/officeDocument/2006/relationships/notesMaster" Target="/ppt/notesMasters/notesMaster1.xml" Id="Rfb8873e662e645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da9de2bc0646ba" /><Relationship Type="http://schemas.openxmlformats.org/officeDocument/2006/relationships/notesMaster" Target="/ppt/notesMasters/notesMaster1.xml" Id="Ra76bcba6271242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491432002c4e04" /><Relationship Type="http://schemas.openxmlformats.org/officeDocument/2006/relationships/notesMaster" Target="/ppt/notesMasters/notesMaster1.xml" Id="R0a6720b5ad3748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44ffffe07c40ed" /><Relationship Type="http://schemas.openxmlformats.org/officeDocument/2006/relationships/notesMaster" Target="/ppt/notesMasters/notesMaster1.xml" Id="Rc360e3aec6974d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d039aad8b5e4867" /><Relationship Type="http://schemas.openxmlformats.org/officeDocument/2006/relationships/notesMaster" Target="/ppt/notesMasters/notesMaster1.xml" Id="R081ee01949cd41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d2b226f9db4132" /><Relationship Type="http://schemas.openxmlformats.org/officeDocument/2006/relationships/notesMaster" Target="/ppt/notesMasters/notesMaster1.xml" Id="Rb319aea3231547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47bd8e6ab348d5" /><Relationship Type="http://schemas.openxmlformats.org/officeDocument/2006/relationships/notesMaster" Target="/ppt/notesMasters/notesMaster1.xml" Id="Rfef356f1b0604d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2026-09-10. Pinned emulator: https://github.com/buppu3/openMSX/blob/d884c4b/src/video/VDP.hh and VDP.cc, VDPCmdEngine.cc. Measurements: demos/scene3-benchmark/results.json. Code: demos/scene3-benchmark/main.c and demos/v9968-tech-demo/v9968.c. Screenshots are emulator output, not photographs of hardware. No personal paths, BIOS data or session IDs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2026-09-10. Pinned emulator: https://github.com/buppu3/openMSX/blob/d884c4b/src/video/VDP.hh and VDP.cc, VDPCmdEngine.cc. Measurements: demos/scene3-benchmark/results.json. Code: demos/scene3-benchmark/main.c and demos/v9968-tech-demo/v9968.c. Screenshots are emulator output, not photographs of hardware. No personal paths, BIOS data or session IDs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2026-09-10. Pinned emulator: https://github.com/buppu3/openMSX/blob/d884c4b/src/video/VDP.hh and VDP.cc, VDPCmdEngine.cc. Measurements: demos/scene3-benchmark/results.json. Code: demos/scene3-benchmark/main.c and demos/v9968-tech-demo/v9968.c. Screenshots are emulator output, not photographs of hardware. No personal paths, BIOS data or session IDs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2026-09-10. Pinned emulator: https://github.com/buppu3/openMSX/blob/d884c4b/src/video/VDP.hh and VDP.cc, VDPCmdEngine.cc. Measurements: demos/scene3-benchmark/results.json. Code: demos/scene3-benchmark/main.c and demos/v9968-tech-demo/v9968.c. Screenshots are emulator output, not photographs of hardware. No personal paths, BIOS data or session IDs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2026-09-10. Pinned emulator: https://github.com/buppu3/openMSX/blob/d884c4b/src/video/VDP.hh and VDP.cc, VDPCmdEngine.cc. Measurements: demos/scene3-benchmark/results.json. Code: demos/scene3-benchmark/main.c and demos/v9968-tech-demo/v9968.c. Screenshots are emulator output, not photographs of hardware. No personal paths, BIOS data or session IDs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2026-09-10. Pinned emulator: https://github.com/buppu3/openMSX/blob/d884c4b/src/video/VDP.hh and VDP.cc, VDPCmdEngine.cc. Measurements: demos/scene3-benchmark/results.json. Code: demos/scene3-benchmark/main.c and demos/v9968-tech-demo/v9968.c. Screenshots are emulator output, not photographs of hardware. No personal paths, BIOS data or session IDs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2026-09-10. Pinned emulator: https://github.com/buppu3/openMSX/blob/d884c4b/src/video/VDP.hh and VDP.cc, VDPCmdEngine.cc. Measurements: demos/scene3-benchmark/results.json. Code: demos/scene3-benchmark/main.c and demos/v9968-tech-demo/v9968.c. Screenshots are emulator output, not photographs of hardware. No personal paths, BIOS data or session IDs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2026-09-10. Pinned emulator: https://github.com/buppu3/openMSX/blob/d884c4b/src/video/VDP.hh and VDP.cc, VDPCmdEngine.cc. Measurements: demos/scene3-benchmark/results.json. Code: demos/scene3-benchmark/main.c and demos/v9968-tech-demo/v9968.c. Screenshots are emulator output, not photographs of hardware. No personal paths, BIOS data or session IDs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2026-09-10. Pinned emulator: https://github.com/buppu3/openMSX/blob/d884c4b/src/video/VDP.hh and VDP.cc, VDPCmdEngine.cc. Measurements: demos/scene3-benchmark/results.json. Code: demos/scene3-benchmark/main.c and demos/v9968-tech-demo/v9968.c. Screenshots are emulator output, not photographs of hardware. No personal paths, BIOS data or session IDs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0b4f973a3045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0a35535ada4019" /><Relationship Type="http://schemas.openxmlformats.org/officeDocument/2006/relationships/slideLayout" Target="/ppt/slideLayouts/slideLayout1.xml" Id="Rc90952764bee4f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0952764bee4f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a5fc18b5ec54e0b" /><Relationship Type="http://schemas.openxmlformats.org/officeDocument/2006/relationships/image" Target="/ppt/media/image.png" Id="Rd3857a35ba1e48d0" /><Relationship Type="http://schemas.openxmlformats.org/officeDocument/2006/relationships/notesSlide" Target="/ppt/notesSlides/notesSlide1.xml" Id="Rd719317598fb4ef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2dc25318b94f6f" /><Relationship Type="http://schemas.openxmlformats.org/officeDocument/2006/relationships/notesSlide" Target="/ppt/notesSlides/notesSlide2.xml" Id="R8d028ead4f0a45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fb870406d3433b" /><Relationship Type="http://schemas.openxmlformats.org/officeDocument/2006/relationships/image" Target="/ppt/media/image2.png" Id="R77a1e62f2e8945b5" /><Relationship Type="http://schemas.openxmlformats.org/officeDocument/2006/relationships/notesSlide" Target="/ppt/notesSlides/notesSlide3.xml" Id="Rb229248a03e640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35f757c7ce0408b" /><Relationship Type="http://schemas.openxmlformats.org/officeDocument/2006/relationships/image" Target="/ppt/media/image3.png" Id="Rb642299de02f44ce" /><Relationship Type="http://schemas.openxmlformats.org/officeDocument/2006/relationships/image" Target="/ppt/media/image4.png" Id="R336adf10b1554352" /><Relationship Type="http://schemas.openxmlformats.org/officeDocument/2006/relationships/notesSlide" Target="/ppt/notesSlides/notesSlide4.xml" Id="R9a4a5876269d43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7d15e995d584c20" /><Relationship Type="http://schemas.openxmlformats.org/officeDocument/2006/relationships/notesSlide" Target="/ppt/notesSlides/notesSlide5.xml" Id="R1508e0decb9443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ca5e3c899024578" /><Relationship Type="http://schemas.openxmlformats.org/officeDocument/2006/relationships/notesSlide" Target="/ppt/notesSlides/notesSlide6.xml" Id="Rffefcf78aa2c42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c14477874314d31" /><Relationship Type="http://schemas.openxmlformats.org/officeDocument/2006/relationships/notesSlide" Target="/ppt/notesSlides/notesSlide7.xml" Id="R9647fea9aca248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0678f27a1da48df" /><Relationship Type="http://schemas.openxmlformats.org/officeDocument/2006/relationships/notesSlide" Target="/ppt/notesSlides/notesSlide8.xml" Id="R23c68dd10e2d44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469a95d11f74cb1" /><Relationship Type="http://schemas.openxmlformats.org/officeDocument/2006/relationships/notesSlide" Target="/ppt/notesSlides/notesSlide9.xml" Id="Rc328137f2e794143" /></Relationships>
</file>

<file path=ppt/slides/slide1.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FC03D53-62BF-4FF4-9007-DC06312FA702}"/>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F7FA"/>
                </a:solidFill>
                <a:latin typeface="Meiryo"/>
                <a:ea typeface="Meiryo"/>
                <a:cs typeface="Meiryo"/>
              </a:defRPr>
            </a:pPr>
            <a:r>
              <a:rPr sz="3150" b="1">
                <a:solidFill>
                  <a:srgbClr val="F2F7FA"/>
                </a:solidFill>
                <a:latin typeface="Meiryo"/>
                <a:ea typeface="Meiryo"/>
                <a:cs typeface="Meiryo"/>
              </a:rPr>
              <a:t>SCENE3 BENCHMARK</a:t>
            </a:r>
          </a:p>
        </p:txBody>
      </p:sp>
      <p:sp>
        <p:nvSpPr>
          <p:cNvPr id="2" name="">
            <a:extLst xmlns:a="http://schemas.openxmlformats.org/drawingml/2006/main">
              <a:ext uri="{FF2B5EF4-FFF2-40B4-BE49-F238E27FC236}">
                <a16:creationId xmlns:a16="http://schemas.microsoft.com/office/drawing/2014/main" id="{4E9A046D-B86F-4C96-AC33-A8E4A3390738}"/>
              </a:ext>
            </a:extLst>
          </p:cNvPr>
          <p:cNvSpPr>
            <a:spLocks xmlns:a="http://schemas.openxmlformats.org/drawingml/2006/main" noGrp="1"/>
          </p:cNvSpPr>
          <p:nvPr/>
        </p:nvSpPr>
        <p:spPr>
          <a:xfrm xmlns:a="http://schemas.openxmlformats.org/drawingml/2006/main">
            <a:off x="1104900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CACB7"/>
                </a:solidFill>
                <a:latin typeface="Meiryo"/>
                <a:ea typeface="Meiryo"/>
                <a:cs typeface="Meiryo"/>
              </a:defRPr>
            </a:pPr>
            <a:r>
              <a:rPr sz="1350" b="0">
                <a:solidFill>
                  <a:srgbClr val="9CACB7"/>
                </a:solidFill>
                <a:latin typeface="Meiryo"/>
                <a:ea typeface="Meiryo"/>
                <a:cs typeface="Meiryo"/>
              </a:rPr>
              <a:t>01</a:t>
            </a:r>
          </a:p>
        </p:txBody>
      </p:sp>
      <p:sp>
        <p:nvSpPr>
          <p:cNvPr id="3" name="">
            <a:extLst xmlns:a="http://schemas.openxmlformats.org/drawingml/2006/main">
              <a:ext uri="{FF2B5EF4-FFF2-40B4-BE49-F238E27FC236}">
                <a16:creationId xmlns:a16="http://schemas.microsoft.com/office/drawing/2014/main" id="{4E8E9572-BFA8-442E-AD93-AAD731851EBA}"/>
              </a:ext>
            </a:extLst>
          </p:cNvPr>
          <p:cNvSpPr>
            <a:spLocks xmlns:a="http://schemas.openxmlformats.org/drawingml/2006/main" noGrp="1"/>
          </p:cNvSpPr>
          <p:nvPr/>
        </p:nvSpPr>
        <p:spPr>
          <a:xfrm xmlns:a="http://schemas.openxmlformats.org/drawingml/2006/main">
            <a:off x="571500" y="1571625"/>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2F7FA"/>
                </a:solidFill>
                <a:latin typeface="Meiryo"/>
                <a:ea typeface="Meiryo"/>
                <a:cs typeface="Meiryo"/>
              </a:defRPr>
            </a:pPr>
            <a:r>
              <a:rPr sz="3375" b="1">
                <a:solidFill>
                  <a:srgbClr val="F2F7FA"/>
                </a:solidFill>
                <a:latin typeface="Meiryo"/>
                <a:ea typeface="Meiryo"/>
                <a:cs typeface="Meiryo"/>
              </a:rPr>
              <a:t>V9968 と従来 VDP の</a:t>
            </a:r>
          </a:p>
          <a:p xmlns:a="http://schemas.openxmlformats.org/drawingml/2006/main">
            <a:pPr>
              <a:defRPr sz="3375" b="1">
                <a:solidFill>
                  <a:srgbClr val="F2F7FA"/>
                </a:solidFill>
                <a:latin typeface="Meiryo"/>
                <a:ea typeface="Meiryo"/>
                <a:cs typeface="Meiryo"/>
              </a:defRPr>
            </a:pPr>
            <a:r>
              <a:rPr sz="3375" b="1">
                <a:solidFill>
                  <a:srgbClr val="F2F7FA"/>
                </a:solidFill>
                <a:latin typeface="Meiryo"/>
                <a:ea typeface="Meiryo"/>
                <a:cs typeface="Meiryo"/>
              </a:rPr>
              <a:t>水中描画を比較する</a:t>
            </a:r>
          </a:p>
        </p:txBody>
      </p:sp>
      <p:sp>
        <p:nvSpPr>
          <p:cNvPr id="4" name="">
            <a:extLst xmlns:a="http://schemas.openxmlformats.org/drawingml/2006/main">
              <a:ext uri="{FF2B5EF4-FFF2-40B4-BE49-F238E27FC236}">
                <a16:creationId xmlns:a16="http://schemas.microsoft.com/office/drawing/2014/main" id="{95A6F71C-1F5C-461F-B030-2C94A07A5DDC}"/>
              </a:ext>
            </a:extLst>
          </p:cNvPr>
          <p:cNvSpPr>
            <a:spLocks xmlns:a="http://schemas.openxmlformats.org/drawingml/2006/main" noGrp="1"/>
          </p:cNvSpPr>
          <p:nvPr/>
        </p:nvSpPr>
        <p:spPr>
          <a:xfrm xmlns:a="http://schemas.openxmlformats.org/drawingml/2006/main">
            <a:off x="571500" y="3429000"/>
            <a:ext cx="4953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AE8EE"/>
                </a:solidFill>
                <a:latin typeface="Meiryo"/>
                <a:ea typeface="Meiryo"/>
                <a:cs typeface="Meiryo"/>
              </a:defRPr>
            </a:pPr>
            <a:r>
              <a:rPr sz="2100" b="0">
                <a:solidFill>
                  <a:srgbClr val="DAE8EE"/>
                </a:solidFill>
                <a:latin typeface="Meiryo"/>
                <a:ea typeface="Meiryo"/>
                <a:cs typeface="Meiryo"/>
              </a:rPr>
              <a:t>速度とパレット精度を分けて確認</a:t>
            </a:r>
          </a:p>
          <a:p xmlns:a="http://schemas.openxmlformats.org/drawingml/2006/main">
            <a:r>
              <a:t/>
            </a:r>
          </a:p>
          <a:p xmlns:a="http://schemas.openxmlformats.org/drawingml/2006/main">
            <a:pPr>
              <a:defRPr sz="2100" b="0">
                <a:solidFill>
                  <a:srgbClr val="DAE8EE"/>
                </a:solidFill>
                <a:latin typeface="Meiryo"/>
                <a:ea typeface="Meiryo"/>
                <a:cs typeface="Meiryo"/>
              </a:defRPr>
            </a:pPr>
            <a:r>
              <a:rPr sz="2100" b="0">
                <a:solidFill>
                  <a:srgbClr val="DAE8EE"/>
                </a:solidFill>
                <a:latin typeface="Meiryo"/>
                <a:ea typeface="Meiryo"/>
                <a:cs typeface="Meiryo"/>
              </a:rPr>
              <a:t>C / z88dk / openMSX</a:t>
            </a:r>
          </a:p>
          <a:p xmlns:a="http://schemas.openxmlformats.org/drawingml/2006/main">
            <a:pPr>
              <a:defRPr sz="2100" b="0">
                <a:solidFill>
                  <a:srgbClr val="DAE8EE"/>
                </a:solidFill>
                <a:latin typeface="Meiryo"/>
                <a:ea typeface="Meiryo"/>
                <a:cs typeface="Meiryo"/>
              </a:defRPr>
            </a:pPr>
            <a:r>
              <a:rPr sz="2100" b="0">
                <a:solidFill>
                  <a:srgbClr val="DAE8EE"/>
                </a:solidFill>
                <a:latin typeface="Meiryo"/>
                <a:ea typeface="Meiryo"/>
                <a:cs typeface="Meiryo"/>
              </a:rPr>
              <a:t>技術解説・2026年9月10日</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3857a35ba1e48d0"/>
          <a:stretch xmlns:a="http://schemas.openxmlformats.org/drawingml/2006/main"/>
        </p:blipFill>
        <p:spPr>
          <a:xfrm xmlns:a="http://schemas.openxmlformats.org/drawingml/2006/main">
            <a:off x="5857875" y="1333500"/>
            <a:ext cx="5715000" cy="4286250"/>
          </a:xfrm>
          <a:prstGeom xmlns:a="http://schemas.openxmlformats.org/drawingml/2006/main" prst="rect">
            <a:avLst/>
          </a:prstGeom>
        </p:spPr>
      </p:pic>
    </p:spTree>
    <p:extLst>
      <p:ext uri="{BB962C8B-B14F-4D97-AF65-F5344CB8AC3E}">
        <p14:creationId xmlns:p14="http://schemas.microsoft.com/office/powerpoint/2010/main" val="1429260940"/>
      </p:ext>
    </p:extLst>
  </p:cSld>
</p:sld>
</file>

<file path=ppt/slides/slide2.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A0FD5B0-1D5D-4B06-820B-B70331F77473}"/>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F7FA"/>
                </a:solidFill>
                <a:latin typeface="Meiryo"/>
                <a:ea typeface="Meiryo"/>
                <a:cs typeface="Meiryo"/>
              </a:defRPr>
            </a:pPr>
            <a:r>
              <a:rPr sz="3150" b="1">
                <a:solidFill>
                  <a:srgbClr val="F2F7FA"/>
                </a:solidFill>
                <a:latin typeface="Meiryo"/>
                <a:ea typeface="Meiryo"/>
                <a:cs typeface="Meiryo"/>
              </a:rPr>
              <a:t>3つの描画モード</a:t>
            </a:r>
          </a:p>
        </p:txBody>
      </p:sp>
      <p:sp>
        <p:nvSpPr>
          <p:cNvPr id="2" name="">
            <a:extLst xmlns:a="http://schemas.openxmlformats.org/drawingml/2006/main">
              <a:ext uri="{FF2B5EF4-FFF2-40B4-BE49-F238E27FC236}">
                <a16:creationId xmlns:a16="http://schemas.microsoft.com/office/drawing/2014/main" id="{9CB5B82F-A987-46FD-8ACC-B853897C21D8}"/>
              </a:ext>
            </a:extLst>
          </p:cNvPr>
          <p:cNvSpPr>
            <a:spLocks xmlns:a="http://schemas.openxmlformats.org/drawingml/2006/main" noGrp="1"/>
          </p:cNvSpPr>
          <p:nvPr/>
        </p:nvSpPr>
        <p:spPr>
          <a:xfrm xmlns:a="http://schemas.openxmlformats.org/drawingml/2006/main">
            <a:off x="1104900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CACB7"/>
                </a:solidFill>
                <a:latin typeface="Meiryo"/>
                <a:ea typeface="Meiryo"/>
                <a:cs typeface="Meiryo"/>
              </a:defRPr>
            </a:pPr>
            <a:r>
              <a:rPr sz="1350" b="0">
                <a:solidFill>
                  <a:srgbClr val="9CACB7"/>
                </a:solidFill>
                <a:latin typeface="Meiryo"/>
                <a:ea typeface="Meiryo"/>
                <a:cs typeface="Meiryo"/>
              </a:rPr>
              <a:t>02</a:t>
            </a:r>
          </a:p>
        </p:txBody>
      </p:sp>
      <p:graphicFrame>
        <p:nvGraphicFramePr>
          <p:cNvPr id="8" name=""/>
          <p:cNvGraphicFramePr/>
          <p:nvPr/>
        </p:nvGraphicFramePr>
        <p:xfrm>
          <a:off xmlns:a="http://schemas.openxmlformats.org/drawingml/2006/main" x="571500" y="1524000"/>
          <a:ext xmlns:a="http://schemas.openxmlformats.org/drawingml/2006/main" cx="11049000" cy="2667000"/>
        </p:xfrm>
        <a:graphic xmlns:a="http://schemas.openxmlformats.org/drawingml/2006/main">
          <a:graphicData uri="http://schemas.openxmlformats.org/drawingml/2006/table">
            <a:tbl>
              <a:tblPr/>
              <a:tblGrid>
                <a:gridCol w="2238375"/>
                <a:gridCol w="2238375"/>
                <a:gridCol w="3000375"/>
                <a:gridCol w="3571875"/>
              </a:tblGrid>
              <a:tr h="666750">
                <a:tc>
                  <a:txBody>
                    <a:bodyPr/>
                    <a:lstStyle/>
                    <a:p>
                      <a:r>
                        <a:rPr sz="1875" b="1">
                          <a:solidFill>
                            <a:srgbClr val="F2F7FA"/>
                          </a:solidFill>
                          <a:latin typeface="Meiryo"/>
                          <a:ea typeface="Meiryo"/>
                          <a:cs typeface="Meiryo"/>
                        </a:rPr>
                        <a:t>モード</a:t>
                      </a:r>
                    </a:p>
                  </a:txBody>
                  <a:tcPr marL="91440" marR="91440" marT="45720" marB="45720">
                    <a:solidFill>
                      <a:srgbClr val="163443"/>
                    </a:solidFill>
                  </a:tcPr>
                </a:tc>
                <a:tc>
                  <a:txBody>
                    <a:bodyPr/>
                    <a:lstStyle/>
                    <a:p>
                      <a:r>
                        <a:rPr sz="1875" b="1">
                          <a:solidFill>
                            <a:srgbClr val="F2F7FA"/>
                          </a:solidFill>
                          <a:latin typeface="Meiryo"/>
                          <a:ea typeface="Meiryo"/>
                          <a:cs typeface="Meiryo"/>
                        </a:rPr>
                        <a:t>高速化 HS</a:t>
                      </a:r>
                    </a:p>
                  </a:txBody>
                  <a:tcPr marL="91440" marR="91440" marT="45720" marB="45720">
                    <a:solidFill>
                      <a:srgbClr val="163443"/>
                    </a:solidFill>
                  </a:tcPr>
                </a:tc>
                <a:tc>
                  <a:txBody>
                    <a:bodyPr/>
                    <a:lstStyle/>
                    <a:p>
                      <a:r>
                        <a:rPr sz="1875" b="1">
                          <a:solidFill>
                            <a:srgbClr val="F2F7FA"/>
                          </a:solidFill>
                          <a:latin typeface="Meiryo"/>
                          <a:ea typeface="Meiryo"/>
                          <a:cs typeface="Meiryo"/>
                        </a:rPr>
                        <a:t>パレット</a:t>
                      </a:r>
                    </a:p>
                  </a:txBody>
                  <a:tcPr marL="91440" marR="91440" marT="45720" marB="45720">
                    <a:solidFill>
                      <a:srgbClr val="163443"/>
                    </a:solidFill>
                  </a:tcPr>
                </a:tc>
                <a:tc>
                  <a:txBody>
                    <a:bodyPr/>
                    <a:lstStyle/>
                    <a:p>
                      <a:r>
                        <a:rPr sz="1875" b="1">
                          <a:solidFill>
                            <a:srgbClr val="F2F7FA"/>
                          </a:solidFill>
                          <a:latin typeface="Meiryo"/>
                          <a:ea typeface="Meiryo"/>
                          <a:cs typeface="Meiryo"/>
                        </a:rPr>
                        <a:t>実行する VDP</a:t>
                      </a:r>
                    </a:p>
                  </a:txBody>
                  <a:tcPr marL="91440" marR="91440" marT="45720" marB="45720">
                    <a:solidFill>
                      <a:srgbClr val="163443"/>
                    </a:solidFill>
                  </a:tcPr>
                </a:tc>
              </a:tr>
              <a:tr h="666750">
                <a:tc>
                  <a:txBody>
                    <a:bodyPr/>
                    <a:lstStyle/>
                    <a:p>
                      <a:r>
                        <a:rPr sz="1875" b="0">
                          <a:solidFill>
                            <a:srgbClr val="F2F7FA"/>
                          </a:solidFill>
                          <a:latin typeface="Meiryo"/>
                          <a:ea typeface="Meiryo"/>
                          <a:cs typeface="Meiryo"/>
                        </a:rPr>
                        <a:t>FULL</a:t>
                      </a:r>
                    </a:p>
                  </a:txBody>
                  <a:tcPr marL="91440" marR="91440" marT="45720" marB="45720">
                    <a:solidFill>
                      <a:srgbClr val="0D2230"/>
                    </a:solidFill>
                  </a:tcPr>
                </a:tc>
                <a:tc>
                  <a:txBody>
                    <a:bodyPr/>
                    <a:lstStyle/>
                    <a:p>
                      <a:r>
                        <a:rPr sz="1875" b="0">
                          <a:solidFill>
                            <a:srgbClr val="F2F7FA"/>
                          </a:solidFill>
                          <a:latin typeface="Meiryo"/>
                          <a:ea typeface="Meiryo"/>
                          <a:cs typeface="Meiryo"/>
                        </a:rPr>
                        <a:t>ON</a:t>
                      </a:r>
                    </a:p>
                  </a:txBody>
                  <a:tcPr marL="91440" marR="91440" marT="45720" marB="45720">
                    <a:solidFill>
                      <a:srgbClr val="0D2230"/>
                    </a:solidFill>
                  </a:tcPr>
                </a:tc>
                <a:tc>
                  <a:txBody>
                    <a:bodyPr/>
                    <a:lstStyle/>
                    <a:p>
                      <a:r>
                        <a:rPr sz="1875" b="0">
                          <a:solidFill>
                            <a:srgbClr val="F2F7FA"/>
                          </a:solidFill>
                          <a:latin typeface="Meiryo"/>
                          <a:ea typeface="Meiryo"/>
                          <a:cs typeface="Meiryo"/>
                        </a:rPr>
                        <a:t>RGB各5ビット</a:t>
                      </a:r>
                    </a:p>
                  </a:txBody>
                  <a:tcPr marL="91440" marR="91440" marT="45720" marB="45720">
                    <a:solidFill>
                      <a:srgbClr val="0D2230"/>
                    </a:solidFill>
                  </a:tcPr>
                </a:tc>
                <a:tc>
                  <a:txBody>
                    <a:bodyPr/>
                    <a:lstStyle/>
                    <a:p>
                      <a:r>
                        <a:rPr sz="1875" b="0">
                          <a:solidFill>
                            <a:srgbClr val="F2F7FA"/>
                          </a:solidFill>
                          <a:latin typeface="Meiryo"/>
                          <a:ea typeface="Meiryo"/>
                          <a:cs typeface="Meiryo"/>
                        </a:rPr>
                        <a:t>V9968</a:t>
                      </a:r>
                    </a:p>
                  </a:txBody>
                  <a:tcPr marL="91440" marR="91440" marT="45720" marB="45720">
                    <a:solidFill>
                      <a:srgbClr val="0D2230"/>
                    </a:solidFill>
                  </a:tcPr>
                </a:tc>
              </a:tr>
              <a:tr h="666750">
                <a:tc>
                  <a:txBody>
                    <a:bodyPr/>
                    <a:lstStyle/>
                    <a:p>
                      <a:r>
                        <a:rPr sz="1875" b="0">
                          <a:solidFill>
                            <a:srgbClr val="F2F7FA"/>
                          </a:solidFill>
                          <a:latin typeface="Meiryo"/>
                          <a:ea typeface="Meiryo"/>
                          <a:cs typeface="Meiryo"/>
                        </a:rPr>
                        <a:t>FAST</a:t>
                      </a:r>
                    </a:p>
                  </a:txBody>
                  <a:tcPr marL="91440" marR="91440" marT="45720" marB="45720">
                    <a:solidFill>
                      <a:srgbClr val="0D2230"/>
                    </a:solidFill>
                  </a:tcPr>
                </a:tc>
                <a:tc>
                  <a:txBody>
                    <a:bodyPr/>
                    <a:lstStyle/>
                    <a:p>
                      <a:r>
                        <a:rPr sz="1875" b="0">
                          <a:solidFill>
                            <a:srgbClr val="F2F7FA"/>
                          </a:solidFill>
                          <a:latin typeface="Meiryo"/>
                          <a:ea typeface="Meiryo"/>
                          <a:cs typeface="Meiryo"/>
                        </a:rPr>
                        <a:t>ON</a:t>
                      </a:r>
                    </a:p>
                  </a:txBody>
                  <a:tcPr marL="91440" marR="91440" marT="45720" marB="45720">
                    <a:solidFill>
                      <a:srgbClr val="0D2230"/>
                    </a:solidFill>
                  </a:tcPr>
                </a:tc>
                <a:tc>
                  <a:txBody>
                    <a:bodyPr/>
                    <a:lstStyle/>
                    <a:p>
                      <a:r>
                        <a:rPr sz="1875" b="0">
                          <a:solidFill>
                            <a:srgbClr val="F2F7FA"/>
                          </a:solidFill>
                          <a:latin typeface="Meiryo"/>
                          <a:ea typeface="Meiryo"/>
                          <a:cs typeface="Meiryo"/>
                        </a:rPr>
                        <a:t>RGB各3ビット</a:t>
                      </a:r>
                    </a:p>
                  </a:txBody>
                  <a:tcPr marL="91440" marR="91440" marT="45720" marB="45720">
                    <a:solidFill>
                      <a:srgbClr val="0D2230"/>
                    </a:solidFill>
                  </a:tcPr>
                </a:tc>
                <a:tc>
                  <a:txBody>
                    <a:bodyPr/>
                    <a:lstStyle/>
                    <a:p>
                      <a:r>
                        <a:rPr sz="1875" b="0">
                          <a:solidFill>
                            <a:srgbClr val="F2F7FA"/>
                          </a:solidFill>
                          <a:latin typeface="Meiryo"/>
                          <a:ea typeface="Meiryo"/>
                          <a:cs typeface="Meiryo"/>
                        </a:rPr>
                        <a:t>V9968</a:t>
                      </a:r>
                    </a:p>
                  </a:txBody>
                  <a:tcPr marL="91440" marR="91440" marT="45720" marB="45720">
                    <a:solidFill>
                      <a:srgbClr val="0D2230"/>
                    </a:solidFill>
                  </a:tcPr>
                </a:tc>
              </a:tr>
              <a:tr h="666750">
                <a:tc>
                  <a:txBody>
                    <a:bodyPr/>
                    <a:lstStyle/>
                    <a:p>
                      <a:r>
                        <a:rPr sz="1875" b="0">
                          <a:solidFill>
                            <a:srgbClr val="F2F7FA"/>
                          </a:solidFill>
                          <a:latin typeface="Meiryo"/>
                          <a:ea typeface="Meiryo"/>
                          <a:cs typeface="Meiryo"/>
                        </a:rPr>
                        <a:t>COMPAT</a:t>
                      </a:r>
                    </a:p>
                  </a:txBody>
                  <a:tcPr marL="91440" marR="91440" marT="45720" marB="45720">
                    <a:solidFill>
                      <a:srgbClr val="0D2230"/>
                    </a:solidFill>
                  </a:tcPr>
                </a:tc>
                <a:tc>
                  <a:txBody>
                    <a:bodyPr/>
                    <a:lstStyle/>
                    <a:p>
                      <a:r>
                        <a:rPr sz="1875" b="0">
                          <a:solidFill>
                            <a:srgbClr val="F2F7FA"/>
                          </a:solidFill>
                          <a:latin typeface="Meiryo"/>
                          <a:ea typeface="Meiryo"/>
                          <a:cs typeface="Meiryo"/>
                        </a:rPr>
                        <a:t>OFF</a:t>
                      </a:r>
                    </a:p>
                  </a:txBody>
                  <a:tcPr marL="91440" marR="91440" marT="45720" marB="45720">
                    <a:solidFill>
                      <a:srgbClr val="0D2230"/>
                    </a:solidFill>
                  </a:tcPr>
                </a:tc>
                <a:tc>
                  <a:txBody>
                    <a:bodyPr/>
                    <a:lstStyle/>
                    <a:p>
                      <a:r>
                        <a:rPr sz="1875" b="0">
                          <a:solidFill>
                            <a:srgbClr val="F2F7FA"/>
                          </a:solidFill>
                          <a:latin typeface="Meiryo"/>
                          <a:ea typeface="Meiryo"/>
                          <a:cs typeface="Meiryo"/>
                        </a:rPr>
                        <a:t>RGB各3ビット</a:t>
                      </a:r>
                    </a:p>
                  </a:txBody>
                  <a:tcPr marL="91440" marR="91440" marT="45720" marB="45720">
                    <a:solidFill>
                      <a:srgbClr val="0D2230"/>
                    </a:solidFill>
                  </a:tcPr>
                </a:tc>
                <a:tc>
                  <a:txBody>
                    <a:bodyPr/>
                    <a:lstStyle/>
                    <a:p>
                      <a:r>
                        <a:rPr sz="1875" b="0">
                          <a:solidFill>
                            <a:srgbClr val="F2F7FA"/>
                          </a:solidFill>
                          <a:latin typeface="Meiryo"/>
                          <a:ea typeface="Meiryo"/>
                          <a:cs typeface="Meiryo"/>
                        </a:rPr>
                        <a:t>V9968 / V9958</a:t>
                      </a:r>
                    </a:p>
                  </a:txBody>
                  <a:tcPr marL="91440" marR="91440" marT="45720" marB="45720">
                    <a:solidFill>
                      <a:srgbClr val="0D2230"/>
                    </a:solidFill>
                  </a:tcPr>
                </a:tc>
              </a:tr>
            </a:tbl>
          </a:graphicData>
        </a:graphic>
      </p:graphicFrame>
      <p:sp>
        <p:nvSpPr>
          <p:cNvPr id="4" name="">
            <a:extLst xmlns:a="http://schemas.openxmlformats.org/drawingml/2006/main">
              <a:ext uri="{FF2B5EF4-FFF2-40B4-BE49-F238E27FC236}">
                <a16:creationId xmlns:a16="http://schemas.microsoft.com/office/drawing/2014/main" id="{AB864085-BA1D-46D0-A95C-B00BB52941F8}"/>
              </a:ext>
            </a:extLst>
          </p:cNvPr>
          <p:cNvSpPr>
            <a:spLocks xmlns:a="http://schemas.openxmlformats.org/drawingml/2006/main" noGrp="1"/>
          </p:cNvSpPr>
          <p:nvPr/>
        </p:nvSpPr>
        <p:spPr>
          <a:xfrm xmlns:a="http://schemas.openxmlformats.org/drawingml/2006/main">
            <a:off x="619125" y="47148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AE8EE"/>
                </a:solidFill>
                <a:latin typeface="Meiryo"/>
                <a:ea typeface="Meiryo"/>
                <a:cs typeface="Meiryo"/>
              </a:defRPr>
            </a:pPr>
            <a:r>
              <a:rPr sz="2100" b="0">
                <a:solidFill>
                  <a:srgbClr val="DAE8EE"/>
                </a:solidFill>
                <a:latin typeface="Meiryo"/>
                <a:ea typeface="Meiryo"/>
                <a:cs typeface="Meiryo"/>
              </a:rPr>
              <a:t>F キーで FULL → FAST → COMPAT → FULL の順に切り替えます。</a:t>
            </a:r>
          </a:p>
          <a:p xmlns:a="http://schemas.openxmlformats.org/drawingml/2006/main">
            <a:pPr>
              <a:defRPr sz="2100" b="0">
                <a:solidFill>
                  <a:srgbClr val="DAE8EE"/>
                </a:solidFill>
                <a:latin typeface="Meiryo"/>
                <a:ea typeface="Meiryo"/>
                <a:cs typeface="Meiryo"/>
              </a:defRPr>
            </a:pPr>
            <a:r>
              <a:rPr sz="2100" b="0">
                <a:solidFill>
                  <a:srgbClr val="DAE8EE"/>
                </a:solidFill>
                <a:latin typeface="Meiryo"/>
                <a:ea typeface="Meiryo"/>
                <a:cs typeface="Meiryo"/>
              </a:rPr>
              <a:t>通常 VDP では COMPAT に固定します。</a:t>
            </a:r>
          </a:p>
        </p:txBody>
      </p:sp>
      <p:sp>
        <p:nvSpPr>
          <p:cNvPr id="5" name="">
            <a:extLst xmlns:a="http://schemas.openxmlformats.org/drawingml/2006/main">
              <a:ext uri="{FF2B5EF4-FFF2-40B4-BE49-F238E27FC236}">
                <a16:creationId xmlns:a16="http://schemas.microsoft.com/office/drawing/2014/main" id="{A7FBE700-2B20-4D0E-927F-C60DEDBC7536}"/>
              </a:ext>
            </a:extLst>
          </p:cNvPr>
          <p:cNvSpPr>
            <a:spLocks xmlns:a="http://schemas.openxmlformats.org/drawingml/2006/main" noGrp="1"/>
          </p:cNvSpPr>
          <p:nvPr/>
        </p:nvSpPr>
        <p:spPr>
          <a:xfrm xmlns:a="http://schemas.openxmlformats.org/drawingml/2006/main">
            <a:off x="619125" y="57626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91D8E8"/>
                </a:solidFill>
                <a:latin typeface="Meiryo"/>
                <a:ea typeface="Meiryo"/>
                <a:cs typeface="Meiryo"/>
              </a:defRPr>
            </a:pPr>
            <a:r>
              <a:rPr sz="1950" b="0">
                <a:solidFill>
                  <a:srgbClr val="91D8E8"/>
                </a:solidFill>
                <a:latin typeface="Meiryo"/>
                <a:ea typeface="Meiryo"/>
                <a:cs typeface="Meiryo"/>
              </a:rPr>
              <a:t>どのモードも SCREEN 5、256×192、画面内16色です。</a:t>
            </a:r>
          </a:p>
        </p:txBody>
      </p:sp>
    </p:spTree>
    <p:extLst>
      <p:ext uri="{BB962C8B-B14F-4D97-AF65-F5344CB8AC3E}">
        <p14:creationId xmlns:p14="http://schemas.microsoft.com/office/powerpoint/2010/main" val="1024716627"/>
      </p:ext>
    </p:extLst>
  </p:cSld>
</p:sld>
</file>

<file path=ppt/slides/slide3.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20817D-2B9C-4640-A7F4-C77D27B8DA1C}"/>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F7FA"/>
                </a:solidFill>
                <a:latin typeface="Meiryo"/>
                <a:ea typeface="Meiryo"/>
                <a:cs typeface="Meiryo"/>
              </a:defRPr>
            </a:pPr>
            <a:r>
              <a:rPr sz="3150" b="1">
                <a:solidFill>
                  <a:srgbClr val="F2F7FA"/>
                </a:solidFill>
                <a:latin typeface="Meiryo"/>
                <a:ea typeface="Meiryo"/>
                <a:cs typeface="Meiryo"/>
              </a:rPr>
              <a:t>1フレームの描画処理</a:t>
            </a:r>
          </a:p>
        </p:txBody>
      </p:sp>
      <p:sp>
        <p:nvSpPr>
          <p:cNvPr id="2" name="">
            <a:extLst xmlns:a="http://schemas.openxmlformats.org/drawingml/2006/main">
              <a:ext uri="{FF2B5EF4-FFF2-40B4-BE49-F238E27FC236}">
                <a16:creationId xmlns:a16="http://schemas.microsoft.com/office/drawing/2014/main" id="{BBEE256A-DEEA-4DFF-B5BC-10E9EFD4F3DC}"/>
              </a:ext>
            </a:extLst>
          </p:cNvPr>
          <p:cNvSpPr>
            <a:spLocks xmlns:a="http://schemas.openxmlformats.org/drawingml/2006/main" noGrp="1"/>
          </p:cNvSpPr>
          <p:nvPr/>
        </p:nvSpPr>
        <p:spPr>
          <a:xfrm xmlns:a="http://schemas.openxmlformats.org/drawingml/2006/main">
            <a:off x="1104900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CACB7"/>
                </a:solidFill>
                <a:latin typeface="Meiryo"/>
                <a:ea typeface="Meiryo"/>
                <a:cs typeface="Meiryo"/>
              </a:defRPr>
            </a:pPr>
            <a:r>
              <a:rPr sz="1350" b="0">
                <a:solidFill>
                  <a:srgbClr val="9CACB7"/>
                </a:solidFill>
                <a:latin typeface="Meiryo"/>
                <a:ea typeface="Meiryo"/>
                <a:cs typeface="Meiryo"/>
              </a:rPr>
              <a:t>03</a:t>
            </a:r>
          </a:p>
        </p:txBody>
      </p:sp>
      <p:sp>
        <p:nvSpPr>
          <p:cNvPr id="3" name="">
            <a:extLst xmlns:a="http://schemas.openxmlformats.org/drawingml/2006/main">
              <a:ext uri="{FF2B5EF4-FFF2-40B4-BE49-F238E27FC236}">
                <a16:creationId xmlns:a16="http://schemas.microsoft.com/office/drawing/2014/main" id="{8C172528-7FA9-48F2-81B3-1535BB6558C9}"/>
              </a:ext>
            </a:extLst>
          </p:cNvPr>
          <p:cNvSpPr>
            <a:spLocks xmlns:a="http://schemas.openxmlformats.org/drawingml/2006/main" noGrp="1"/>
          </p:cNvSpPr>
          <p:nvPr/>
        </p:nvSpPr>
        <p:spPr>
          <a:xfrm xmlns:a="http://schemas.openxmlformats.org/drawingml/2006/main">
            <a:off x="571500" y="1428750"/>
            <a:ext cx="7239000" cy="433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1  海底背景を作業ページへコピー</a:t>
            </a:r>
          </a:p>
          <a:p xmlns:a="http://schemas.openxmlformats.org/drawingml/2006/main">
            <a:r>
              <a:t/>
            </a:r>
          </a:p>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2  事前計算した立体を LMMV で描画</a:t>
            </a:r>
          </a:p>
          <a:p xmlns:a="http://schemas.openxmlformats.org/drawingml/2006/main">
            <a:r>
              <a:t/>
            </a:r>
          </a:p>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3  描画結果を別の VRAM ページへ退避</a:t>
            </a:r>
          </a:p>
          <a:p xmlns:a="http://schemas.openxmlformats.org/drawingml/2006/main">
            <a:r>
              <a:t/>
            </a:r>
          </a:p>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4  2ラインごとに参照位置を変えて転送</a:t>
            </a:r>
          </a:p>
          <a:p xmlns:a="http://schemas.openxmlformats.org/drawingml/2006/main">
            <a:r>
              <a:t/>
            </a:r>
          </a:p>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5  表示情報を描き、VSync 後にページ交換</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7a1e62f2e8945b5"/>
          <a:stretch xmlns:a="http://schemas.openxmlformats.org/drawingml/2006/main"/>
        </p:blipFill>
        <p:spPr>
          <a:xfrm xmlns:a="http://schemas.openxmlformats.org/drawingml/2006/main">
            <a:off x="8239125" y="2035969"/>
            <a:ext cx="3333750" cy="250031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0CB1B26-D39A-4D84-AC58-B42AF0BCCF2A}"/>
              </a:ext>
            </a:extLst>
          </p:cNvPr>
          <p:cNvSpPr>
            <a:spLocks xmlns:a="http://schemas.openxmlformats.org/drawingml/2006/main" noGrp="1"/>
          </p:cNvSpPr>
          <p:nvPr/>
        </p:nvSpPr>
        <p:spPr>
          <a:xfrm xmlns:a="http://schemas.openxmlformats.org/drawingml/2006/main">
            <a:off x="8096250" y="5000625"/>
            <a:ext cx="3429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91D8E8"/>
                </a:solidFill>
                <a:latin typeface="Meiryo"/>
                <a:ea typeface="Meiryo"/>
                <a:cs typeface="Meiryo"/>
              </a:defRPr>
            </a:pPr>
            <a:r>
              <a:rPr sz="1725" b="0">
                <a:solidFill>
                  <a:srgbClr val="91D8E8"/>
                </a:solidFill>
                <a:latin typeface="Meiryo"/>
                <a:ea typeface="Meiryo"/>
                <a:cs typeface="Meiryo"/>
              </a:rPr>
              <a:t>HMMM：帯の転送</a:t>
            </a:r>
          </a:p>
          <a:p xmlns:a="http://schemas.openxmlformats.org/drawingml/2006/main">
            <a:pPr>
              <a:defRPr sz="1725" b="0">
                <a:solidFill>
                  <a:srgbClr val="91D8E8"/>
                </a:solidFill>
                <a:latin typeface="Meiryo"/>
                <a:ea typeface="Meiryo"/>
                <a:cs typeface="Meiryo"/>
              </a:defRPr>
            </a:pPr>
            <a:r>
              <a:rPr sz="1725" b="0">
                <a:solidFill>
                  <a:srgbClr val="91D8E8"/>
                </a:solidFill>
                <a:latin typeface="Meiryo"/>
                <a:ea typeface="Meiryo"/>
                <a:cs typeface="Meiryo"/>
              </a:rPr>
              <a:t>LMMM：左右端の画素補完</a:t>
            </a:r>
          </a:p>
          <a:p xmlns:a="http://schemas.openxmlformats.org/drawingml/2006/main">
            <a:pPr>
              <a:defRPr sz="1725" b="0">
                <a:solidFill>
                  <a:srgbClr val="91D8E8"/>
                </a:solidFill>
                <a:latin typeface="Meiryo"/>
                <a:ea typeface="Meiryo"/>
                <a:cs typeface="Meiryo"/>
              </a:defRPr>
            </a:pPr>
            <a:r>
              <a:rPr sz="1725" b="0">
                <a:solidFill>
                  <a:srgbClr val="91D8E8"/>
                </a:solidFill>
                <a:latin typeface="Meiryo"/>
                <a:ea typeface="Meiryo"/>
                <a:cs typeface="Meiryo"/>
              </a:rPr>
              <a:t>LRMM：この比較では不使用</a:t>
            </a:r>
          </a:p>
        </p:txBody>
      </p:sp>
    </p:spTree>
    <p:extLst>
      <p:ext uri="{BB962C8B-B14F-4D97-AF65-F5344CB8AC3E}">
        <p14:creationId xmlns:p14="http://schemas.microsoft.com/office/powerpoint/2010/main" val="850970292"/>
      </p:ext>
    </p:extLst>
  </p:cSld>
</p:sld>
</file>

<file path=ppt/slides/slide4.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DD050D-086A-4725-9C26-BDA4C17A07FD}"/>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F7FA"/>
                </a:solidFill>
                <a:latin typeface="Meiryo"/>
                <a:ea typeface="Meiryo"/>
                <a:cs typeface="Meiryo"/>
              </a:defRPr>
            </a:pPr>
            <a:r>
              <a:rPr sz="3150" b="1">
                <a:solidFill>
                  <a:srgbClr val="F2F7FA"/>
                </a:solidFill>
                <a:latin typeface="Meiryo"/>
                <a:ea typeface="Meiryo"/>
                <a:cs typeface="Meiryo"/>
              </a:rPr>
              <a:t>拡張パレットによる色の違い</a:t>
            </a:r>
          </a:p>
        </p:txBody>
      </p:sp>
      <p:sp>
        <p:nvSpPr>
          <p:cNvPr id="2" name="">
            <a:extLst xmlns:a="http://schemas.openxmlformats.org/drawingml/2006/main">
              <a:ext uri="{FF2B5EF4-FFF2-40B4-BE49-F238E27FC236}">
                <a16:creationId xmlns:a16="http://schemas.microsoft.com/office/drawing/2014/main" id="{C5BD0F96-F3AA-471A-A754-9C46B722EA22}"/>
              </a:ext>
            </a:extLst>
          </p:cNvPr>
          <p:cNvSpPr>
            <a:spLocks xmlns:a="http://schemas.openxmlformats.org/drawingml/2006/main" noGrp="1"/>
          </p:cNvSpPr>
          <p:nvPr/>
        </p:nvSpPr>
        <p:spPr>
          <a:xfrm xmlns:a="http://schemas.openxmlformats.org/drawingml/2006/main">
            <a:off x="1104900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CACB7"/>
                </a:solidFill>
                <a:latin typeface="Meiryo"/>
                <a:ea typeface="Meiryo"/>
                <a:cs typeface="Meiryo"/>
              </a:defRPr>
            </a:pPr>
            <a:r>
              <a:rPr sz="1350" b="0">
                <a:solidFill>
                  <a:srgbClr val="9CACB7"/>
                </a:solidFill>
                <a:latin typeface="Meiryo"/>
                <a:ea typeface="Meiryo"/>
                <a:cs typeface="Meiryo"/>
              </a:rPr>
              <a:t>04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642299de02f44ce"/>
          <a:stretch xmlns:a="http://schemas.openxmlformats.org/drawingml/2006/main"/>
        </p:blipFill>
        <p:spPr>
          <a:xfrm xmlns:a="http://schemas.openxmlformats.org/drawingml/2006/main">
            <a:off x="573088" y="1457325"/>
            <a:ext cx="5283200" cy="3962400"/>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36adf10b1554352"/>
          <a:stretch xmlns:a="http://schemas.openxmlformats.org/drawingml/2006/main"/>
        </p:blipFill>
        <p:spPr>
          <a:xfrm xmlns:a="http://schemas.openxmlformats.org/drawingml/2006/main">
            <a:off x="6335713" y="1457325"/>
            <a:ext cx="5283200" cy="3962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083F552-B2AC-4515-B822-0049A65CAD58}"/>
              </a:ext>
            </a:extLst>
          </p:cNvPr>
          <p:cNvSpPr>
            <a:spLocks xmlns:a="http://schemas.openxmlformats.org/drawingml/2006/main" noGrp="1"/>
          </p:cNvSpPr>
          <p:nvPr/>
        </p:nvSpPr>
        <p:spPr>
          <a:xfrm xmlns:a="http://schemas.openxmlformats.org/drawingml/2006/main">
            <a:off x="666750" y="54768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91D8E8"/>
                </a:solidFill>
                <a:latin typeface="Meiryo"/>
                <a:ea typeface="Meiryo"/>
                <a:cs typeface="Meiryo"/>
              </a:defRPr>
            </a:pPr>
            <a:r>
              <a:rPr sz="2025" b="1">
                <a:solidFill>
                  <a:srgbClr val="91D8E8"/>
                </a:solidFill>
                <a:latin typeface="Meiryo"/>
                <a:ea typeface="Meiryo"/>
                <a:cs typeface="Meiryo"/>
              </a:rPr>
              <a:t>FULL：32,768色から16色</a:t>
            </a:r>
          </a:p>
        </p:txBody>
      </p:sp>
      <p:sp>
        <p:nvSpPr>
          <p:cNvPr id="6" name="">
            <a:extLst xmlns:a="http://schemas.openxmlformats.org/drawingml/2006/main">
              <a:ext uri="{FF2B5EF4-FFF2-40B4-BE49-F238E27FC236}">
                <a16:creationId xmlns:a16="http://schemas.microsoft.com/office/drawing/2014/main" id="{F65A45FC-934E-47E1-86E2-BADA466C1F63}"/>
              </a:ext>
            </a:extLst>
          </p:cNvPr>
          <p:cNvSpPr>
            <a:spLocks xmlns:a="http://schemas.openxmlformats.org/drawingml/2006/main" noGrp="1"/>
          </p:cNvSpPr>
          <p:nvPr/>
        </p:nvSpPr>
        <p:spPr>
          <a:xfrm xmlns:a="http://schemas.openxmlformats.org/drawingml/2006/main">
            <a:off x="6429375" y="54768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91D8E8"/>
                </a:solidFill>
                <a:latin typeface="Meiryo"/>
                <a:ea typeface="Meiryo"/>
                <a:cs typeface="Meiryo"/>
              </a:defRPr>
            </a:pPr>
            <a:r>
              <a:rPr sz="2025" b="1">
                <a:solidFill>
                  <a:srgbClr val="91D8E8"/>
                </a:solidFill>
                <a:latin typeface="Meiryo"/>
                <a:ea typeface="Meiryo"/>
                <a:cs typeface="Meiryo"/>
              </a:rPr>
              <a:t>FAST：512色から16色</a:t>
            </a:r>
          </a:p>
        </p:txBody>
      </p:sp>
      <p:sp>
        <p:nvSpPr>
          <p:cNvPr id="7" name="">
            <a:extLst xmlns:a="http://schemas.openxmlformats.org/drawingml/2006/main">
              <a:ext uri="{FF2B5EF4-FFF2-40B4-BE49-F238E27FC236}">
                <a16:creationId xmlns:a16="http://schemas.microsoft.com/office/drawing/2014/main" id="{D0708446-7E7A-4AFF-BF44-0ED6CF040F8E}"/>
              </a:ext>
            </a:extLst>
          </p:cNvPr>
          <p:cNvSpPr>
            <a:spLocks xmlns:a="http://schemas.openxmlformats.org/drawingml/2006/main" noGrp="1"/>
          </p:cNvSpPr>
          <p:nvPr/>
        </p:nvSpPr>
        <p:spPr>
          <a:xfrm xmlns:a="http://schemas.openxmlformats.org/drawingml/2006/main">
            <a:off x="571500" y="60483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AE8EE"/>
                </a:solidFill>
                <a:latin typeface="Meiryo"/>
                <a:ea typeface="Meiryo"/>
                <a:cs typeface="Meiryo"/>
              </a:defRPr>
            </a:pPr>
            <a:r>
              <a:rPr sz="1800" b="0">
                <a:solidFill>
                  <a:srgbClr val="DAE8EE"/>
                </a:solidFill>
                <a:latin typeface="Meiryo"/>
                <a:ea typeface="Meiryo"/>
                <a:cs typeface="Meiryo"/>
              </a:rPr>
              <a:t>同じ姿勢・波の位相。3ビット化により、陰影や暗部の色が変わります。</a:t>
            </a:r>
          </a:p>
        </p:txBody>
      </p:sp>
    </p:spTree>
    <p:extLst>
      <p:ext uri="{BB962C8B-B14F-4D97-AF65-F5344CB8AC3E}">
        <p14:creationId xmlns:p14="http://schemas.microsoft.com/office/powerpoint/2010/main" val="777819203"/>
      </p:ext>
    </p:extLst>
  </p:cSld>
</p:sld>
</file>

<file path=ppt/slides/slide5.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B5A794-47FC-471B-878D-B600923DAA3F}"/>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F7FA"/>
                </a:solidFill>
                <a:latin typeface="Meiryo"/>
                <a:ea typeface="Meiryo"/>
                <a:cs typeface="Meiryo"/>
              </a:defRPr>
            </a:pPr>
            <a:r>
              <a:rPr sz="3150" b="1">
                <a:solidFill>
                  <a:srgbClr val="F2F7FA"/>
                </a:solidFill>
                <a:latin typeface="Meiryo"/>
                <a:ea typeface="Meiryo"/>
                <a:cs typeface="Meiryo"/>
              </a:rPr>
              <a:t>固定姿勢での実測 FPS</a:t>
            </a:r>
          </a:p>
        </p:txBody>
      </p:sp>
      <p:sp>
        <p:nvSpPr>
          <p:cNvPr id="2" name="">
            <a:extLst xmlns:a="http://schemas.openxmlformats.org/drawingml/2006/main">
              <a:ext uri="{FF2B5EF4-FFF2-40B4-BE49-F238E27FC236}">
                <a16:creationId xmlns:a16="http://schemas.microsoft.com/office/drawing/2014/main" id="{9BCE0957-8ADD-49CE-9DAF-178111EE1738}"/>
              </a:ext>
            </a:extLst>
          </p:cNvPr>
          <p:cNvSpPr>
            <a:spLocks xmlns:a="http://schemas.openxmlformats.org/drawingml/2006/main" noGrp="1"/>
          </p:cNvSpPr>
          <p:nvPr/>
        </p:nvSpPr>
        <p:spPr>
          <a:xfrm xmlns:a="http://schemas.openxmlformats.org/drawingml/2006/main">
            <a:off x="1104900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CACB7"/>
                </a:solidFill>
                <a:latin typeface="Meiryo"/>
                <a:ea typeface="Meiryo"/>
                <a:cs typeface="Meiryo"/>
              </a:defRPr>
            </a:pPr>
            <a:r>
              <a:rPr sz="1350" b="0">
                <a:solidFill>
                  <a:srgbClr val="9CACB7"/>
                </a:solidFill>
                <a:latin typeface="Meiryo"/>
                <a:ea typeface="Meiryo"/>
                <a:cs typeface="Meiryo"/>
              </a:rPr>
              <a:t>05</a:t>
            </a:r>
          </a:p>
        </p:txBody>
      </p:sp>
      <p:graphicFrame>
        <p:nvGraphicFramePr>
          <p:cNvPr id="7" name=""/>
          <p:cNvGraphicFramePr/>
          <p:nvPr/>
        </p:nvGraphicFramePr>
        <p:xfrm>
          <a:off xmlns:a="http://schemas.openxmlformats.org/drawingml/2006/main" x="571500" y="1381125"/>
          <a:ext xmlns:a="http://schemas.openxmlformats.org/drawingml/2006/main" cx="11049000" cy="3333750"/>
        </p:xfrm>
        <a:graphic xmlns:a="http://schemas.openxmlformats.org/drawingml/2006/main">
          <a:graphicData uri="http://schemas.openxmlformats.org/drawingml/2006/table">
            <a:tbl>
              <a:tblPr/>
              <a:tblGrid>
                <a:gridCol w="4953000"/>
                <a:gridCol w="3048000"/>
                <a:gridCol w="3048000"/>
              </a:tblGrid>
              <a:tr h="666750">
                <a:tc>
                  <a:txBody>
                    <a:bodyPr/>
                    <a:lstStyle/>
                    <a:p>
                      <a:r>
                        <a:rPr sz="1875" b="1">
                          <a:solidFill>
                            <a:srgbClr val="F2F7FA"/>
                          </a:solidFill>
                          <a:latin typeface="Meiryo"/>
                          <a:ea typeface="Meiryo"/>
                          <a:cs typeface="Meiryo"/>
                        </a:rPr>
                        <a:t>構成</a:t>
                      </a:r>
                    </a:p>
                  </a:txBody>
                  <a:tcPr marL="91440" marR="91440" marT="45720" marB="45720">
                    <a:solidFill>
                      <a:srgbClr val="163443"/>
                    </a:solidFill>
                  </a:tcPr>
                </a:tc>
                <a:tc>
                  <a:txBody>
                    <a:bodyPr/>
                    <a:lstStyle/>
                    <a:p>
                      <a:r>
                        <a:rPr sz="1875" b="1">
                          <a:solidFill>
                            <a:srgbClr val="F2F7FA"/>
                          </a:solidFill>
                          <a:latin typeface="Meiryo"/>
                          <a:ea typeface="Meiryo"/>
                          <a:cs typeface="Meiryo"/>
                        </a:rPr>
                        <a:t>C-BIOS / Z80</a:t>
                      </a:r>
                    </a:p>
                  </a:txBody>
                  <a:tcPr marL="91440" marR="91440" marT="45720" marB="45720">
                    <a:solidFill>
                      <a:srgbClr val="163443"/>
                    </a:solidFill>
                  </a:tcPr>
                </a:tc>
                <a:tc>
                  <a:txBody>
                    <a:bodyPr/>
                    <a:lstStyle/>
                    <a:p>
                      <a:r>
                        <a:rPr sz="1875" b="1">
                          <a:solidFill>
                            <a:srgbClr val="F2F7FA"/>
                          </a:solidFill>
                          <a:latin typeface="Meiryo"/>
                          <a:ea typeface="Meiryo"/>
                          <a:cs typeface="Meiryo"/>
                        </a:rPr>
                        <a:t>FS-A1GT / R800</a:t>
                      </a:r>
                    </a:p>
                  </a:txBody>
                  <a:tcPr marL="91440" marR="91440" marT="45720" marB="45720">
                    <a:solidFill>
                      <a:srgbClr val="163443"/>
                    </a:solidFill>
                  </a:tcPr>
                </a:tc>
              </a:tr>
              <a:tr h="666750">
                <a:tc>
                  <a:txBody>
                    <a:bodyPr/>
                    <a:lstStyle/>
                    <a:p>
                      <a:r>
                        <a:rPr sz="1875" b="0">
                          <a:solidFill>
                            <a:srgbClr val="F2F7FA"/>
                          </a:solidFill>
                          <a:latin typeface="Meiryo"/>
                          <a:ea typeface="Meiryo"/>
                          <a:cs typeface="Meiryo"/>
                        </a:rPr>
                        <a:t>V9968 FULL</a:t>
                      </a:r>
                    </a:p>
                  </a:txBody>
                  <a:tcPr marL="91440" marR="91440" marT="45720" marB="45720">
                    <a:solidFill>
                      <a:srgbClr val="0D2230"/>
                    </a:solidFill>
                  </a:tcPr>
                </a:tc>
                <a:tc>
                  <a:txBody>
                    <a:bodyPr/>
                    <a:lstStyle/>
                    <a:p>
                      <a:r>
                        <a:rPr sz="1875" b="0">
                          <a:solidFill>
                            <a:srgbClr val="F2F7FA"/>
                          </a:solidFill>
                          <a:latin typeface="Meiryo"/>
                          <a:ea typeface="Meiryo"/>
                          <a:cs typeface="Meiryo"/>
                        </a:rPr>
                        <a:t>6.00</a:t>
                      </a:r>
                    </a:p>
                  </a:txBody>
                  <a:tcPr marL="91440" marR="91440" marT="45720" marB="45720">
                    <a:solidFill>
                      <a:srgbClr val="0D2230"/>
                    </a:solidFill>
                  </a:tcPr>
                </a:tc>
                <a:tc>
                  <a:txBody>
                    <a:bodyPr/>
                    <a:lstStyle/>
                    <a:p>
                      <a:r>
                        <a:rPr sz="1875" b="0">
                          <a:solidFill>
                            <a:srgbClr val="F2F7FA"/>
                          </a:solidFill>
                          <a:latin typeface="Meiryo"/>
                          <a:ea typeface="Meiryo"/>
                          <a:cs typeface="Meiryo"/>
                        </a:rPr>
                        <a:t>7.50</a:t>
                      </a:r>
                    </a:p>
                  </a:txBody>
                  <a:tcPr marL="91440" marR="91440" marT="45720" marB="45720">
                    <a:solidFill>
                      <a:srgbClr val="0D2230"/>
                    </a:solidFill>
                  </a:tcPr>
                </a:tc>
              </a:tr>
              <a:tr h="666750">
                <a:tc>
                  <a:txBody>
                    <a:bodyPr/>
                    <a:lstStyle/>
                    <a:p>
                      <a:r>
                        <a:rPr sz="1875" b="0">
                          <a:solidFill>
                            <a:srgbClr val="F2F7FA"/>
                          </a:solidFill>
                          <a:latin typeface="Meiryo"/>
                          <a:ea typeface="Meiryo"/>
                          <a:cs typeface="Meiryo"/>
                        </a:rPr>
                        <a:t>V9968 FAST</a:t>
                      </a:r>
                    </a:p>
                  </a:txBody>
                  <a:tcPr marL="91440" marR="91440" marT="45720" marB="45720">
                    <a:solidFill>
                      <a:srgbClr val="0D2230"/>
                    </a:solidFill>
                  </a:tcPr>
                </a:tc>
                <a:tc>
                  <a:txBody>
                    <a:bodyPr/>
                    <a:lstStyle/>
                    <a:p>
                      <a:r>
                        <a:rPr sz="1875" b="0">
                          <a:solidFill>
                            <a:srgbClr val="F2F7FA"/>
                          </a:solidFill>
                          <a:latin typeface="Meiryo"/>
                          <a:ea typeface="Meiryo"/>
                          <a:cs typeface="Meiryo"/>
                        </a:rPr>
                        <a:t>6.00</a:t>
                      </a:r>
                    </a:p>
                  </a:txBody>
                  <a:tcPr marL="91440" marR="91440" marT="45720" marB="45720">
                    <a:solidFill>
                      <a:srgbClr val="0D2230"/>
                    </a:solidFill>
                  </a:tcPr>
                </a:tc>
                <a:tc>
                  <a:txBody>
                    <a:bodyPr/>
                    <a:lstStyle/>
                    <a:p>
                      <a:r>
                        <a:rPr sz="1875" b="0">
                          <a:solidFill>
                            <a:srgbClr val="F2F7FA"/>
                          </a:solidFill>
                          <a:latin typeface="Meiryo"/>
                          <a:ea typeface="Meiryo"/>
                          <a:cs typeface="Meiryo"/>
                        </a:rPr>
                        <a:t>7.50</a:t>
                      </a:r>
                    </a:p>
                  </a:txBody>
                  <a:tcPr marL="91440" marR="91440" marT="45720" marB="45720">
                    <a:solidFill>
                      <a:srgbClr val="0D2230"/>
                    </a:solidFill>
                  </a:tcPr>
                </a:tc>
              </a:tr>
              <a:tr h="666750">
                <a:tc>
                  <a:txBody>
                    <a:bodyPr/>
                    <a:lstStyle/>
                    <a:p>
                      <a:r>
                        <a:rPr sz="1875" b="0">
                          <a:solidFill>
                            <a:srgbClr val="F2F7FA"/>
                          </a:solidFill>
                          <a:latin typeface="Meiryo"/>
                          <a:ea typeface="Meiryo"/>
                          <a:cs typeface="Meiryo"/>
                        </a:rPr>
                        <a:t>V9968 COMPAT</a:t>
                      </a:r>
                    </a:p>
                  </a:txBody>
                  <a:tcPr marL="91440" marR="91440" marT="45720" marB="45720">
                    <a:solidFill>
                      <a:srgbClr val="0D2230"/>
                    </a:solidFill>
                  </a:tcPr>
                </a:tc>
                <a:tc>
                  <a:txBody>
                    <a:bodyPr/>
                    <a:lstStyle/>
                    <a:p>
                      <a:r>
                        <a:rPr sz="1875" b="0">
                          <a:solidFill>
                            <a:srgbClr val="F2F7FA"/>
                          </a:solidFill>
                          <a:latin typeface="Meiryo"/>
                          <a:ea typeface="Meiryo"/>
                          <a:cs typeface="Meiryo"/>
                        </a:rPr>
                        <a:t>1.94</a:t>
                      </a:r>
                    </a:p>
                  </a:txBody>
                  <a:tcPr marL="91440" marR="91440" marT="45720" marB="45720">
                    <a:solidFill>
                      <a:srgbClr val="0D2230"/>
                    </a:solidFill>
                  </a:tcPr>
                </a:tc>
                <a:tc>
                  <a:txBody>
                    <a:bodyPr/>
                    <a:lstStyle/>
                    <a:p>
                      <a:r>
                        <a:rPr sz="1875" b="0">
                          <a:solidFill>
                            <a:srgbClr val="F2F7FA"/>
                          </a:solidFill>
                          <a:latin typeface="Meiryo"/>
                          <a:ea typeface="Meiryo"/>
                          <a:cs typeface="Meiryo"/>
                        </a:rPr>
                        <a:t>2.07</a:t>
                      </a:r>
                    </a:p>
                  </a:txBody>
                  <a:tcPr marL="91440" marR="91440" marT="45720" marB="45720">
                    <a:solidFill>
                      <a:srgbClr val="0D2230"/>
                    </a:solidFill>
                  </a:tcPr>
                </a:tc>
              </a:tr>
              <a:tr h="666750">
                <a:tc>
                  <a:txBody>
                    <a:bodyPr/>
                    <a:lstStyle/>
                    <a:p>
                      <a:r>
                        <a:rPr sz="1875" b="0">
                          <a:solidFill>
                            <a:srgbClr val="F2F7FA"/>
                          </a:solidFill>
                          <a:latin typeface="Meiryo"/>
                          <a:ea typeface="Meiryo"/>
                          <a:cs typeface="Meiryo"/>
                        </a:rPr>
                        <a:t>通常 V9958</a:t>
                      </a:r>
                    </a:p>
                  </a:txBody>
                  <a:tcPr marL="91440" marR="91440" marT="45720" marB="45720">
                    <a:solidFill>
                      <a:srgbClr val="0D2230"/>
                    </a:solidFill>
                  </a:tcPr>
                </a:tc>
                <a:tc>
                  <a:txBody>
                    <a:bodyPr/>
                    <a:lstStyle/>
                    <a:p>
                      <a:r>
                        <a:rPr sz="1875" b="0">
                          <a:solidFill>
                            <a:srgbClr val="F2F7FA"/>
                          </a:solidFill>
                          <a:latin typeface="Meiryo"/>
                          <a:ea typeface="Meiryo"/>
                          <a:cs typeface="Meiryo"/>
                        </a:rPr>
                        <a:t>1.67</a:t>
                      </a:r>
                    </a:p>
                  </a:txBody>
                  <a:tcPr marL="91440" marR="91440" marT="45720" marB="45720">
                    <a:solidFill>
                      <a:srgbClr val="0D2230"/>
                    </a:solidFill>
                  </a:tcPr>
                </a:tc>
                <a:tc>
                  <a:txBody>
                    <a:bodyPr/>
                    <a:lstStyle/>
                    <a:p>
                      <a:r>
                        <a:rPr sz="1875" b="0">
                          <a:solidFill>
                            <a:srgbClr val="F2F7FA"/>
                          </a:solidFill>
                          <a:latin typeface="Meiryo"/>
                          <a:ea typeface="Meiryo"/>
                          <a:cs typeface="Meiryo"/>
                        </a:rPr>
                        <a:t>1.76</a:t>
                      </a:r>
                    </a:p>
                  </a:txBody>
                  <a:tcPr marL="91440" marR="91440" marT="45720" marB="45720">
                    <a:solidFill>
                      <a:srgbClr val="0D2230"/>
                    </a:solidFill>
                  </a:tcPr>
                </a:tc>
              </a:tr>
            </a:tbl>
          </a:graphicData>
        </a:graphic>
      </p:graphicFrame>
      <p:sp>
        <p:nvSpPr>
          <p:cNvPr id="4" name="">
            <a:extLst xmlns:a="http://schemas.openxmlformats.org/drawingml/2006/main">
              <a:ext uri="{FF2B5EF4-FFF2-40B4-BE49-F238E27FC236}">
                <a16:creationId xmlns:a16="http://schemas.microsoft.com/office/drawing/2014/main" id="{22A1991A-A9BB-4CEF-99C9-BCE6B7CB4DC6}"/>
              </a:ext>
            </a:extLst>
          </p:cNvPr>
          <p:cNvSpPr>
            <a:spLocks xmlns:a="http://schemas.openxmlformats.org/drawingml/2006/main" noGrp="1"/>
          </p:cNvSpPr>
          <p:nvPr/>
        </p:nvSpPr>
        <p:spPr>
          <a:xfrm xmlns:a="http://schemas.openxmlformats.org/drawingml/2006/main">
            <a:off x="571500" y="523875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AE8EE"/>
                </a:solidFill>
                <a:latin typeface="Meiryo"/>
                <a:ea typeface="Meiryo"/>
                <a:cs typeface="Meiryo"/>
              </a:defRPr>
            </a:pPr>
            <a:r>
              <a:rPr sz="1800" b="0">
                <a:solidFill>
                  <a:srgbClr val="DAE8EE"/>
                </a:solidFill>
                <a:latin typeface="Meiryo"/>
                <a:ea typeface="Meiryo"/>
                <a:cs typeface="Meiryo"/>
              </a:rPr>
              <a:t>同じ ROM、60 Hz、P で固定、約12秒の測定。HUD・BGM・VSync 待ちを含む。</a:t>
            </a:r>
          </a:p>
          <a:p xmlns:a="http://schemas.openxmlformats.org/drawingml/2006/main">
            <a:pPr>
              <a:defRPr sz="1800" b="0">
                <a:solidFill>
                  <a:srgbClr val="DAE8EE"/>
                </a:solidFill>
                <a:latin typeface="Meiryo"/>
                <a:ea typeface="Meiryo"/>
                <a:cs typeface="Meiryo"/>
              </a:defRPr>
            </a:pPr>
            <a:r>
              <a:rPr sz="1800" b="0">
                <a:solidFill>
                  <a:srgbClr val="DAE8EE"/>
                </a:solidFill>
                <a:latin typeface="Meiryo"/>
                <a:ea typeface="Meiryo"/>
                <a:cs typeface="Meiryo"/>
              </a:rPr>
              <a:t>派生版 d884c4b と通常版 openMSX 21.0。実機での測定値ではありません。</a:t>
            </a:r>
          </a:p>
        </p:txBody>
      </p:sp>
    </p:spTree>
    <p:extLst>
      <p:ext uri="{BB962C8B-B14F-4D97-AF65-F5344CB8AC3E}">
        <p14:creationId xmlns:p14="http://schemas.microsoft.com/office/powerpoint/2010/main" val="2006466774"/>
      </p:ext>
    </p:extLst>
  </p:cSld>
</p:sld>
</file>

<file path=ppt/slides/slide6.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49E25F-068D-4EA2-884F-22C30CB32622}"/>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F7FA"/>
                </a:solidFill>
                <a:latin typeface="Meiryo"/>
                <a:ea typeface="Meiryo"/>
                <a:cs typeface="Meiryo"/>
              </a:defRPr>
            </a:pPr>
            <a:r>
              <a:rPr sz="3150" b="1">
                <a:solidFill>
                  <a:srgbClr val="F2F7FA"/>
                </a:solidFill>
                <a:latin typeface="Meiryo"/>
                <a:ea typeface="Meiryo"/>
                <a:cs typeface="Meiryo"/>
              </a:rPr>
              <a:t>測定値の読み方</a:t>
            </a:r>
          </a:p>
        </p:txBody>
      </p:sp>
      <p:sp>
        <p:nvSpPr>
          <p:cNvPr id="2" name="">
            <a:extLst xmlns:a="http://schemas.openxmlformats.org/drawingml/2006/main">
              <a:ext uri="{FF2B5EF4-FFF2-40B4-BE49-F238E27FC236}">
                <a16:creationId xmlns:a16="http://schemas.microsoft.com/office/drawing/2014/main" id="{054CB7D6-79FA-4035-9F87-0D8E214EB208}"/>
              </a:ext>
            </a:extLst>
          </p:cNvPr>
          <p:cNvSpPr>
            <a:spLocks xmlns:a="http://schemas.openxmlformats.org/drawingml/2006/main" noGrp="1"/>
          </p:cNvSpPr>
          <p:nvPr/>
        </p:nvSpPr>
        <p:spPr>
          <a:xfrm xmlns:a="http://schemas.openxmlformats.org/drawingml/2006/main">
            <a:off x="1104900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CACB7"/>
                </a:solidFill>
                <a:latin typeface="Meiryo"/>
                <a:ea typeface="Meiryo"/>
                <a:cs typeface="Meiryo"/>
              </a:defRPr>
            </a:pPr>
            <a:r>
              <a:rPr sz="1350" b="0">
                <a:solidFill>
                  <a:srgbClr val="9CACB7"/>
                </a:solidFill>
                <a:latin typeface="Meiryo"/>
                <a:ea typeface="Meiryo"/>
                <a:cs typeface="Meiryo"/>
              </a:rPr>
              <a:t>06</a:t>
            </a:r>
          </a:p>
        </p:txBody>
      </p:sp>
      <p:sp>
        <p:nvSpPr>
          <p:cNvPr id="3" name="">
            <a:extLst xmlns:a="http://schemas.openxmlformats.org/drawingml/2006/main">
              <a:ext uri="{FF2B5EF4-FFF2-40B4-BE49-F238E27FC236}">
                <a16:creationId xmlns:a16="http://schemas.microsoft.com/office/drawing/2014/main" id="{A8E93EB6-2B65-46F7-B8BD-780E9CC4C94A}"/>
              </a:ext>
            </a:extLst>
          </p:cNvPr>
          <p:cNvSpPr>
            <a:spLocks xmlns:a="http://schemas.openxmlformats.org/drawingml/2006/main" noGrp="1"/>
          </p:cNvSpPr>
          <p:nvPr/>
        </p:nvSpPr>
        <p:spPr>
          <a:xfrm xmlns:a="http://schemas.openxmlformats.org/drawingml/2006/main">
            <a:off x="571500" y="148590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1D8E8"/>
                </a:solidFill>
                <a:latin typeface="Meiryo"/>
                <a:ea typeface="Meiryo"/>
                <a:cs typeface="Meiryo"/>
              </a:defRPr>
            </a:pPr>
            <a:r>
              <a:rPr sz="2250" b="1">
                <a:solidFill>
                  <a:srgbClr val="91D8E8"/>
                </a:solidFill>
                <a:latin typeface="Meiryo"/>
                <a:ea typeface="Meiryo"/>
                <a:cs typeface="Meiryo"/>
              </a:rPr>
              <a:t>FPS = 完了した画面交換の回数 × 60 ÷ 経過した VBlank 数</a:t>
            </a:r>
          </a:p>
        </p:txBody>
      </p:sp>
      <p:sp>
        <p:nvSpPr>
          <p:cNvPr id="4" name="">
            <a:extLst xmlns:a="http://schemas.openxmlformats.org/drawingml/2006/main">
              <a:ext uri="{FF2B5EF4-FFF2-40B4-BE49-F238E27FC236}">
                <a16:creationId xmlns:a16="http://schemas.microsoft.com/office/drawing/2014/main" id="{7338C900-2939-4B32-9362-AD73A8D599E1}"/>
              </a:ext>
            </a:extLst>
          </p:cNvPr>
          <p:cNvSpPr>
            <a:spLocks xmlns:a="http://schemas.openxmlformats.org/drawingml/2006/main" noGrp="1"/>
          </p:cNvSpPr>
          <p:nvPr/>
        </p:nvSpPr>
        <p:spPr>
          <a:xfrm xmlns:a="http://schemas.openxmlformats.org/drawingml/2006/main">
            <a:off x="571500" y="2524125"/>
            <a:ext cx="110490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画面の FPS は約2秒ごとに更新します。</a:t>
            </a:r>
          </a:p>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モード変更直後は集計をリセットします。</a:t>
            </a:r>
          </a:p>
          <a:p xmlns:a="http://schemas.openxmlformats.org/drawingml/2006/main">
            <a:r>
              <a:t/>
            </a:r>
          </a:p>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P キーは姿勢と波の位相を固定します。描画処理は毎回実行します。</a:t>
            </a:r>
          </a:p>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通常のアニメーションでは、姿勢ごとの描画量で FPS が変わります。</a:t>
            </a:r>
          </a:p>
          <a:p xmlns:a="http://schemas.openxmlformats.org/drawingml/2006/main">
            <a:r>
              <a:t/>
            </a:r>
          </a:p>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高速化 OFF の V9968 と、通常 V9958 の結果には差がありました。</a:t>
            </a:r>
          </a:p>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この測定から実機性能や全コマンドの倍率を断定することはできません。</a:t>
            </a:r>
          </a:p>
        </p:txBody>
      </p:sp>
    </p:spTree>
    <p:extLst>
      <p:ext uri="{BB962C8B-B14F-4D97-AF65-F5344CB8AC3E}">
        <p14:creationId xmlns:p14="http://schemas.microsoft.com/office/powerpoint/2010/main" val="582757622"/>
      </p:ext>
    </p:extLst>
  </p:cSld>
</p:sld>
</file>

<file path=ppt/slides/slide7.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8F9749B-1BE3-4295-BC20-28E9D657FDA8}"/>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F7FA"/>
                </a:solidFill>
                <a:latin typeface="Meiryo"/>
                <a:ea typeface="Meiryo"/>
                <a:cs typeface="Meiryo"/>
              </a:defRPr>
            </a:pPr>
            <a:r>
              <a:rPr sz="3150" b="1">
                <a:solidFill>
                  <a:srgbClr val="F2F7FA"/>
                </a:solidFill>
                <a:latin typeface="Meiryo"/>
                <a:ea typeface="Meiryo"/>
                <a:cs typeface="Meiryo"/>
              </a:rPr>
              <a:t>起動と操作</a:t>
            </a:r>
          </a:p>
        </p:txBody>
      </p:sp>
      <p:sp>
        <p:nvSpPr>
          <p:cNvPr id="2" name="">
            <a:extLst xmlns:a="http://schemas.openxmlformats.org/drawingml/2006/main">
              <a:ext uri="{FF2B5EF4-FFF2-40B4-BE49-F238E27FC236}">
                <a16:creationId xmlns:a16="http://schemas.microsoft.com/office/drawing/2014/main" id="{3880917B-F146-404B-B872-E67386C35C58}"/>
              </a:ext>
            </a:extLst>
          </p:cNvPr>
          <p:cNvSpPr>
            <a:spLocks xmlns:a="http://schemas.openxmlformats.org/drawingml/2006/main" noGrp="1"/>
          </p:cNvSpPr>
          <p:nvPr/>
        </p:nvSpPr>
        <p:spPr>
          <a:xfrm xmlns:a="http://schemas.openxmlformats.org/drawingml/2006/main">
            <a:off x="1104900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CACB7"/>
                </a:solidFill>
                <a:latin typeface="Meiryo"/>
                <a:ea typeface="Meiryo"/>
                <a:cs typeface="Meiryo"/>
              </a:defRPr>
            </a:pPr>
            <a:r>
              <a:rPr sz="1350" b="0">
                <a:solidFill>
                  <a:srgbClr val="9CACB7"/>
                </a:solidFill>
                <a:latin typeface="Meiryo"/>
                <a:ea typeface="Meiryo"/>
                <a:cs typeface="Meiryo"/>
              </a:rPr>
              <a:t>07</a:t>
            </a:r>
          </a:p>
        </p:txBody>
      </p:sp>
      <p:sp>
        <p:nvSpPr>
          <p:cNvPr id="3" name="">
            <a:extLst xmlns:a="http://schemas.openxmlformats.org/drawingml/2006/main">
              <a:ext uri="{FF2B5EF4-FFF2-40B4-BE49-F238E27FC236}">
                <a16:creationId xmlns:a16="http://schemas.microsoft.com/office/drawing/2014/main" id="{27409A9D-9504-415B-9298-FAA2AAF970D7}"/>
              </a:ext>
            </a:extLst>
          </p:cNvPr>
          <p:cNvSpPr>
            <a:spLocks xmlns:a="http://schemas.openxmlformats.org/drawingml/2006/main" noGrp="1"/>
          </p:cNvSpPr>
          <p:nvPr/>
        </p:nvSpPr>
        <p:spPr>
          <a:xfrm xmlns:a="http://schemas.openxmlformats.org/drawingml/2006/main">
            <a:off x="571500" y="13811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AE8EE"/>
                </a:solidFill>
                <a:latin typeface="Meiryo"/>
                <a:ea typeface="Meiryo"/>
                <a:cs typeface="Meiryo"/>
              </a:defRPr>
            </a:pPr>
            <a:r>
              <a:rPr sz="2100" b="0">
                <a:solidFill>
                  <a:srgbClr val="DAE8EE"/>
                </a:solidFill>
                <a:latin typeface="Meiryo"/>
                <a:ea typeface="Meiryo"/>
                <a:cs typeface="Meiryo"/>
              </a:rPr>
              <a:t>対応する setup BAT を実行後、tools/benchmark を開きます。</a:t>
            </a:r>
          </a:p>
        </p:txBody>
      </p:sp>
      <p:graphicFrame>
        <p:nvGraphicFramePr>
          <p:cNvPr id="9" name=""/>
          <p:cNvGraphicFramePr/>
          <p:nvPr/>
        </p:nvGraphicFramePr>
        <p:xfrm>
          <a:off xmlns:a="http://schemas.openxmlformats.org/drawingml/2006/main" x="571500" y="2238375"/>
          <a:ext xmlns:a="http://schemas.openxmlformats.org/drawingml/2006/main" cx="11049000" cy="2000250"/>
        </p:xfrm>
        <a:graphic xmlns:a="http://schemas.openxmlformats.org/drawingml/2006/main">
          <a:graphicData uri="http://schemas.openxmlformats.org/drawingml/2006/table">
            <a:tbl>
              <a:tblPr/>
              <a:tblGrid>
                <a:gridCol w="2905125"/>
                <a:gridCol w="3905250"/>
                <a:gridCol w="4238625"/>
              </a:tblGrid>
              <a:tr h="666750">
                <a:tc>
                  <a:txBody>
                    <a:bodyPr/>
                    <a:lstStyle/>
                    <a:p>
                      <a:r>
                        <a:rPr sz="1875" b="1">
                          <a:solidFill>
                            <a:srgbClr val="F2F7FA"/>
                          </a:solidFill>
                          <a:latin typeface="Meiryo"/>
                          <a:ea typeface="Meiryo"/>
                          <a:cs typeface="Meiryo"/>
                        </a:rPr>
                        <a:t>CPU 構成</a:t>
                      </a:r>
                    </a:p>
                  </a:txBody>
                  <a:tcPr marL="91440" marR="91440" marT="45720" marB="45720">
                    <a:solidFill>
                      <a:srgbClr val="163443"/>
                    </a:solidFill>
                  </a:tcPr>
                </a:tc>
                <a:tc>
                  <a:txBody>
                    <a:bodyPr/>
                    <a:lstStyle/>
                    <a:p>
                      <a:r>
                        <a:rPr sz="1875" b="1">
                          <a:solidFill>
                            <a:srgbClr val="F2F7FA"/>
                          </a:solidFill>
                          <a:latin typeface="Meiryo"/>
                          <a:ea typeface="Meiryo"/>
                          <a:cs typeface="Meiryo"/>
                        </a:rPr>
                        <a:t>V9968</a:t>
                      </a:r>
                    </a:p>
                  </a:txBody>
                  <a:tcPr marL="91440" marR="91440" marT="45720" marB="45720">
                    <a:solidFill>
                      <a:srgbClr val="163443"/>
                    </a:solidFill>
                  </a:tcPr>
                </a:tc>
                <a:tc>
                  <a:txBody>
                    <a:bodyPr/>
                    <a:lstStyle/>
                    <a:p>
                      <a:r>
                        <a:rPr sz="1875" b="1">
                          <a:solidFill>
                            <a:srgbClr val="F2F7FA"/>
                          </a:solidFill>
                          <a:latin typeface="Meiryo"/>
                          <a:ea typeface="Meiryo"/>
                          <a:cs typeface="Meiryo"/>
                        </a:rPr>
                        <a:t>通常 V9958</a:t>
                      </a:r>
                    </a:p>
                  </a:txBody>
                  <a:tcPr marL="91440" marR="91440" marT="45720" marB="45720">
                    <a:solidFill>
                      <a:srgbClr val="163443"/>
                    </a:solidFill>
                  </a:tcPr>
                </a:tc>
              </a:tr>
              <a:tr h="666750">
                <a:tc>
                  <a:txBody>
                    <a:bodyPr/>
                    <a:lstStyle/>
                    <a:p>
                      <a:r>
                        <a:rPr sz="1875" b="0">
                          <a:solidFill>
                            <a:srgbClr val="F2F7FA"/>
                          </a:solidFill>
                          <a:latin typeface="Meiryo"/>
                          <a:ea typeface="Meiryo"/>
                          <a:cs typeface="Meiryo"/>
                        </a:rPr>
                        <a:t>C-BIOS / Z80</a:t>
                      </a:r>
                    </a:p>
                  </a:txBody>
                  <a:tcPr marL="91440" marR="91440" marT="45720" marB="45720">
                    <a:solidFill>
                      <a:srgbClr val="0D2230"/>
                    </a:solidFill>
                  </a:tcPr>
                </a:tc>
                <a:tc>
                  <a:txBody>
                    <a:bodyPr/>
                    <a:lstStyle/>
                    <a:p>
                      <a:r>
                        <a:rPr sz="1875" b="0">
                          <a:solidFill>
                            <a:srgbClr val="F2F7FA"/>
                          </a:solidFill>
                          <a:latin typeface="Meiryo"/>
                          <a:ea typeface="Meiryo"/>
                          <a:cs typeface="Meiryo"/>
                        </a:rPr>
                        <a:t>launch-cbios-v9968.bat</a:t>
                      </a:r>
                    </a:p>
                  </a:txBody>
                  <a:tcPr marL="91440" marR="91440" marT="45720" marB="45720">
                    <a:solidFill>
                      <a:srgbClr val="0D2230"/>
                    </a:solidFill>
                  </a:tcPr>
                </a:tc>
                <a:tc>
                  <a:txBody>
                    <a:bodyPr/>
                    <a:lstStyle/>
                    <a:p>
                      <a:r>
                        <a:rPr sz="1875" b="0">
                          <a:solidFill>
                            <a:srgbClr val="F2F7FA"/>
                          </a:solidFill>
                          <a:latin typeface="Meiryo"/>
                          <a:ea typeface="Meiryo"/>
                          <a:cs typeface="Meiryo"/>
                        </a:rPr>
                        <a:t>launch-cbios-standard.bat</a:t>
                      </a:r>
                    </a:p>
                  </a:txBody>
                  <a:tcPr marL="91440" marR="91440" marT="45720" marB="45720">
                    <a:solidFill>
                      <a:srgbClr val="0D2230"/>
                    </a:solidFill>
                  </a:tcPr>
                </a:tc>
              </a:tr>
              <a:tr h="666750">
                <a:tc>
                  <a:txBody>
                    <a:bodyPr/>
                    <a:lstStyle/>
                    <a:p>
                      <a:r>
                        <a:rPr sz="1875" b="0">
                          <a:solidFill>
                            <a:srgbClr val="F2F7FA"/>
                          </a:solidFill>
                          <a:latin typeface="Meiryo"/>
                          <a:ea typeface="Meiryo"/>
                          <a:cs typeface="Meiryo"/>
                        </a:rPr>
                        <a:t>FS-A1GT / R800</a:t>
                      </a:r>
                    </a:p>
                  </a:txBody>
                  <a:tcPr marL="91440" marR="91440" marT="45720" marB="45720">
                    <a:solidFill>
                      <a:srgbClr val="0D2230"/>
                    </a:solidFill>
                  </a:tcPr>
                </a:tc>
                <a:tc>
                  <a:txBody>
                    <a:bodyPr/>
                    <a:lstStyle/>
                    <a:p>
                      <a:r>
                        <a:rPr sz="1875" b="0">
                          <a:solidFill>
                            <a:srgbClr val="F2F7FA"/>
                          </a:solidFill>
                          <a:latin typeface="Meiryo"/>
                          <a:ea typeface="Meiryo"/>
                          <a:cs typeface="Meiryo"/>
                        </a:rPr>
                        <a:t>launch-fsa1gt-v9968.bat</a:t>
                      </a:r>
                    </a:p>
                  </a:txBody>
                  <a:tcPr marL="91440" marR="91440" marT="45720" marB="45720">
                    <a:solidFill>
                      <a:srgbClr val="0D2230"/>
                    </a:solidFill>
                  </a:tcPr>
                </a:tc>
                <a:tc>
                  <a:txBody>
                    <a:bodyPr/>
                    <a:lstStyle/>
                    <a:p>
                      <a:r>
                        <a:rPr sz="1875" b="0">
                          <a:solidFill>
                            <a:srgbClr val="F2F7FA"/>
                          </a:solidFill>
                          <a:latin typeface="Meiryo"/>
                          <a:ea typeface="Meiryo"/>
                          <a:cs typeface="Meiryo"/>
                        </a:rPr>
                        <a:t>launch-fsa1gt-standard.bat</a:t>
                      </a:r>
                    </a:p>
                  </a:txBody>
                  <a:tcPr marL="91440" marR="91440" marT="45720" marB="45720">
                    <a:solidFill>
                      <a:srgbClr val="0D2230"/>
                    </a:solidFill>
                  </a:tcPr>
                </a:tc>
              </a:tr>
            </a:tbl>
          </a:graphicData>
        </a:graphic>
      </p:graphicFrame>
      <p:sp>
        <p:nvSpPr>
          <p:cNvPr id="5" name="">
            <a:extLst xmlns:a="http://schemas.openxmlformats.org/drawingml/2006/main">
              <a:ext uri="{FF2B5EF4-FFF2-40B4-BE49-F238E27FC236}">
                <a16:creationId xmlns:a16="http://schemas.microsoft.com/office/drawing/2014/main" id="{B858101A-6E56-4F66-9D62-A7FD7C27C0B4}"/>
              </a:ext>
            </a:extLst>
          </p:cNvPr>
          <p:cNvSpPr>
            <a:spLocks xmlns:a="http://schemas.openxmlformats.org/drawingml/2006/main" noGrp="1"/>
          </p:cNvSpPr>
          <p:nvPr/>
        </p:nvSpPr>
        <p:spPr>
          <a:xfrm xmlns:a="http://schemas.openxmlformats.org/drawingml/2006/main">
            <a:off x="571500" y="4762500"/>
            <a:ext cx="1104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F：モード切り替え    P：同じ姿勢で比較    Esc：停止</a:t>
            </a:r>
          </a:p>
          <a:p xmlns:a="http://schemas.openxmlformats.org/drawingml/2006/main">
            <a:r>
              <a:t/>
            </a:r>
          </a:p>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FS-A1GT の起動には、ユーザーが所有する BIOS を使用します。</a:t>
            </a:r>
          </a:p>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通常の起動に z88dk は不要です。</a:t>
            </a:r>
          </a:p>
        </p:txBody>
      </p:sp>
    </p:spTree>
    <p:extLst>
      <p:ext uri="{BB962C8B-B14F-4D97-AF65-F5344CB8AC3E}">
        <p14:creationId xmlns:p14="http://schemas.microsoft.com/office/powerpoint/2010/main" val="1967383871"/>
      </p:ext>
    </p:extLst>
  </p:cSld>
</p:sld>
</file>

<file path=ppt/slides/slide8.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004D54-F959-460F-91A5-6D6732065614}"/>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F7FA"/>
                </a:solidFill>
                <a:latin typeface="Meiryo"/>
                <a:ea typeface="Meiryo"/>
                <a:cs typeface="Meiryo"/>
              </a:defRPr>
            </a:pPr>
            <a:r>
              <a:rPr sz="3150" b="1">
                <a:solidFill>
                  <a:srgbClr val="F2F7FA"/>
                </a:solidFill>
                <a:latin typeface="Meiryo"/>
                <a:ea typeface="Meiryo"/>
                <a:cs typeface="Meiryo"/>
              </a:rPr>
              <a:t>C 実装と切り替え処理</a:t>
            </a:r>
          </a:p>
        </p:txBody>
      </p:sp>
      <p:sp>
        <p:nvSpPr>
          <p:cNvPr id="2" name="">
            <a:extLst xmlns:a="http://schemas.openxmlformats.org/drawingml/2006/main">
              <a:ext uri="{FF2B5EF4-FFF2-40B4-BE49-F238E27FC236}">
                <a16:creationId xmlns:a16="http://schemas.microsoft.com/office/drawing/2014/main" id="{849D3AD6-B656-47A7-86BA-845991328A4E}"/>
              </a:ext>
            </a:extLst>
          </p:cNvPr>
          <p:cNvSpPr>
            <a:spLocks xmlns:a="http://schemas.openxmlformats.org/drawingml/2006/main" noGrp="1"/>
          </p:cNvSpPr>
          <p:nvPr/>
        </p:nvSpPr>
        <p:spPr>
          <a:xfrm xmlns:a="http://schemas.openxmlformats.org/drawingml/2006/main">
            <a:off x="1104900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CACB7"/>
                </a:solidFill>
                <a:latin typeface="Meiryo"/>
                <a:ea typeface="Meiryo"/>
                <a:cs typeface="Meiryo"/>
              </a:defRPr>
            </a:pPr>
            <a:r>
              <a:rPr sz="1350" b="0">
                <a:solidFill>
                  <a:srgbClr val="9CACB7"/>
                </a:solidFill>
                <a:latin typeface="Meiryo"/>
                <a:ea typeface="Meiryo"/>
                <a:cs typeface="Meiryo"/>
              </a:rPr>
              <a:t>08</a:t>
            </a:r>
          </a:p>
        </p:txBody>
      </p:sp>
      <p:sp>
        <p:nvSpPr>
          <p:cNvPr id="3" name="">
            <a:extLst xmlns:a="http://schemas.openxmlformats.org/drawingml/2006/main">
              <a:ext uri="{FF2B5EF4-FFF2-40B4-BE49-F238E27FC236}">
                <a16:creationId xmlns:a16="http://schemas.microsoft.com/office/drawing/2014/main" id="{A49F0662-D897-4885-A43D-A675F3143634}"/>
              </a:ext>
            </a:extLst>
          </p:cNvPr>
          <p:cNvSpPr>
            <a:spLocks xmlns:a="http://schemas.openxmlformats.org/drawingml/2006/main" noGrp="1"/>
          </p:cNvSpPr>
          <p:nvPr/>
        </p:nvSpPr>
        <p:spPr>
          <a:xfrm xmlns:a="http://schemas.openxmlformats.org/drawingml/2006/main">
            <a:off x="571500" y="13811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91D8E8"/>
                </a:solidFill>
                <a:latin typeface="Meiryo"/>
                <a:ea typeface="Meiryo"/>
                <a:cs typeface="Meiryo"/>
              </a:defRPr>
            </a:pPr>
            <a:r>
              <a:rPr sz="2325" b="1">
                <a:solidFill>
                  <a:srgbClr val="91D8E8"/>
                </a:solidFill>
                <a:latin typeface="Meiryo"/>
                <a:ea typeface="Meiryo"/>
                <a:cs typeface="Meiryo"/>
              </a:rPr>
              <a:t>描画コードとデータは共通</a:t>
            </a:r>
          </a:p>
        </p:txBody>
      </p:sp>
      <p:sp>
        <p:nvSpPr>
          <p:cNvPr id="4" name="">
            <a:extLst xmlns:a="http://schemas.openxmlformats.org/drawingml/2006/main">
              <a:ext uri="{FF2B5EF4-FFF2-40B4-BE49-F238E27FC236}">
                <a16:creationId xmlns:a16="http://schemas.microsoft.com/office/drawing/2014/main" id="{760A5737-BC47-485A-B0D5-F0720AA16E4B}"/>
              </a:ext>
            </a:extLst>
          </p:cNvPr>
          <p:cNvSpPr>
            <a:spLocks xmlns:a="http://schemas.openxmlformats.org/drawingml/2006/main" noGrp="1"/>
          </p:cNvSpPr>
          <p:nvPr/>
        </p:nvSpPr>
        <p:spPr>
          <a:xfrm xmlns:a="http://schemas.openxmlformats.org/drawingml/2006/main">
            <a:off x="571500" y="19716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SCENE3_BENCHMARK 定義で通常パレットと従来 VDP の初期化を追加。</a:t>
            </a:r>
          </a:p>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同じ1 MiB ROM を ASCII16 として両エミュレーターで起動します。</a:t>
            </a:r>
          </a:p>
        </p:txBody>
      </p:sp>
      <p:sp>
        <p:nvSpPr>
          <p:cNvPr id="5" name="">
            <a:extLst xmlns:a="http://schemas.openxmlformats.org/drawingml/2006/main">
              <a:ext uri="{FF2B5EF4-FFF2-40B4-BE49-F238E27FC236}">
                <a16:creationId xmlns:a16="http://schemas.microsoft.com/office/drawing/2014/main" id="{F3489184-8699-4B0F-8A16-BE927DB62B3B}"/>
              </a:ext>
            </a:extLst>
          </p:cNvPr>
          <p:cNvSpPr>
            <a:spLocks xmlns:a="http://schemas.openxmlformats.org/drawingml/2006/main" noGrp="1"/>
          </p:cNvSpPr>
          <p:nvPr/>
        </p:nvSpPr>
        <p:spPr>
          <a:xfrm xmlns:a="http://schemas.openxmlformats.org/drawingml/2006/main">
            <a:off x="571500" y="32861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91D8E8"/>
                </a:solidFill>
                <a:latin typeface="Meiryo"/>
                <a:ea typeface="Meiryo"/>
                <a:cs typeface="Meiryo"/>
              </a:defRPr>
            </a:pPr>
            <a:r>
              <a:rPr sz="2325" b="1">
                <a:solidFill>
                  <a:srgbClr val="91D8E8"/>
                </a:solidFill>
                <a:latin typeface="Meiryo"/>
                <a:ea typeface="Meiryo"/>
                <a:cs typeface="Meiryo"/>
              </a:rPr>
              <a:t>切り替え時の順序</a:t>
            </a:r>
          </a:p>
        </p:txBody>
      </p:sp>
      <p:sp>
        <p:nvSpPr>
          <p:cNvPr id="6" name="">
            <a:extLst xmlns:a="http://schemas.openxmlformats.org/drawingml/2006/main">
              <a:ext uri="{FF2B5EF4-FFF2-40B4-BE49-F238E27FC236}">
                <a16:creationId xmlns:a16="http://schemas.microsoft.com/office/drawing/2014/main" id="{B6C1F96B-C698-4090-A26D-1A068334C6A3}"/>
              </a:ext>
            </a:extLst>
          </p:cNvPr>
          <p:cNvSpPr>
            <a:spLocks xmlns:a="http://schemas.openxmlformats.org/drawingml/2006/main" noGrp="1"/>
          </p:cNvSpPr>
          <p:nvPr/>
        </p:nvSpPr>
        <p:spPr>
          <a:xfrm xmlns:a="http://schemas.openxmlformats.org/drawingml/2006/main">
            <a:off x="571500" y="3857625"/>
            <a:ext cx="11049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コマンド完了待ち → VBlank 待ち → 表示を一時停止</a:t>
            </a:r>
          </a:p>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R20 を変更 → 全16色を再設定 → 表示を再開</a:t>
            </a:r>
          </a:p>
          <a:p xmlns:a="http://schemas.openxmlformats.org/drawingml/2006/main">
            <a:r>
              <a:t/>
            </a:r>
          </a:p>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派生版 d884c4b の R20：FULL=0x11、FAST=0x01、COMPAT=0x00</a:t>
            </a:r>
          </a:p>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通常パレットへの変換：round(元の成分 × 7 / 31)</a:t>
            </a:r>
          </a:p>
        </p:txBody>
      </p:sp>
    </p:spTree>
    <p:extLst>
      <p:ext uri="{BB962C8B-B14F-4D97-AF65-F5344CB8AC3E}">
        <p14:creationId xmlns:p14="http://schemas.microsoft.com/office/powerpoint/2010/main" val="155196605"/>
      </p:ext>
    </p:extLst>
  </p:cSld>
</p:sld>
</file>

<file path=ppt/slides/slide9.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C1EF15E-2A8D-40F3-B4B5-1C7D7D9563EF}"/>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F7FA"/>
                </a:solidFill>
                <a:latin typeface="Meiryo"/>
                <a:ea typeface="Meiryo"/>
                <a:cs typeface="Meiryo"/>
              </a:defRPr>
            </a:pPr>
            <a:r>
              <a:rPr sz="3150" b="1">
                <a:solidFill>
                  <a:srgbClr val="F2F7FA"/>
                </a:solidFill>
                <a:latin typeface="Meiryo"/>
                <a:ea typeface="Meiryo"/>
                <a:cs typeface="Meiryo"/>
              </a:rPr>
              <a:t>確認範囲と参考資料</a:t>
            </a:r>
          </a:p>
        </p:txBody>
      </p:sp>
      <p:sp>
        <p:nvSpPr>
          <p:cNvPr id="2" name="">
            <a:extLst xmlns:a="http://schemas.openxmlformats.org/drawingml/2006/main">
              <a:ext uri="{FF2B5EF4-FFF2-40B4-BE49-F238E27FC236}">
                <a16:creationId xmlns:a16="http://schemas.microsoft.com/office/drawing/2014/main" id="{E939A92B-F621-43B8-BBD1-F6575DE31C1D}"/>
              </a:ext>
            </a:extLst>
          </p:cNvPr>
          <p:cNvSpPr>
            <a:spLocks xmlns:a="http://schemas.openxmlformats.org/drawingml/2006/main" noGrp="1"/>
          </p:cNvSpPr>
          <p:nvPr/>
        </p:nvSpPr>
        <p:spPr>
          <a:xfrm xmlns:a="http://schemas.openxmlformats.org/drawingml/2006/main">
            <a:off x="1104900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CACB7"/>
                </a:solidFill>
                <a:latin typeface="Meiryo"/>
                <a:ea typeface="Meiryo"/>
                <a:cs typeface="Meiryo"/>
              </a:defRPr>
            </a:pPr>
            <a:r>
              <a:rPr sz="1350" b="0">
                <a:solidFill>
                  <a:srgbClr val="9CACB7"/>
                </a:solidFill>
                <a:latin typeface="Meiryo"/>
                <a:ea typeface="Meiryo"/>
                <a:cs typeface="Meiryo"/>
              </a:rPr>
              <a:t>09</a:t>
            </a:r>
          </a:p>
        </p:txBody>
      </p:sp>
      <p:sp>
        <p:nvSpPr>
          <p:cNvPr id="3" name="">
            <a:extLst xmlns:a="http://schemas.openxmlformats.org/drawingml/2006/main">
              <a:ext uri="{FF2B5EF4-FFF2-40B4-BE49-F238E27FC236}">
                <a16:creationId xmlns:a16="http://schemas.microsoft.com/office/drawing/2014/main" id="{2C616C66-0704-4C12-B004-719AB29A3B2B}"/>
              </a:ext>
            </a:extLst>
          </p:cNvPr>
          <p:cNvSpPr>
            <a:spLocks xmlns:a="http://schemas.openxmlformats.org/drawingml/2006/main" noGrp="1"/>
          </p:cNvSpPr>
          <p:nvPr/>
        </p:nvSpPr>
        <p:spPr>
          <a:xfrm xmlns:a="http://schemas.openxmlformats.org/drawingml/2006/main">
            <a:off x="571500" y="1381125"/>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91D8E8"/>
                </a:solidFill>
                <a:latin typeface="Meiryo"/>
                <a:ea typeface="Meiryo"/>
                <a:cs typeface="Meiryo"/>
              </a:defRPr>
            </a:pPr>
            <a:r>
              <a:rPr sz="2325" b="1">
                <a:solidFill>
                  <a:srgbClr val="91D8E8"/>
                </a:solidFill>
                <a:latin typeface="Meiryo"/>
                <a:ea typeface="Meiryo"/>
                <a:cs typeface="Meiryo"/>
              </a:rPr>
              <a:t>確認済み</a:t>
            </a:r>
          </a:p>
        </p:txBody>
      </p:sp>
      <p:sp>
        <p:nvSpPr>
          <p:cNvPr id="4" name="">
            <a:extLst xmlns:a="http://schemas.openxmlformats.org/drawingml/2006/main">
              <a:ext uri="{FF2B5EF4-FFF2-40B4-BE49-F238E27FC236}">
                <a16:creationId xmlns:a16="http://schemas.microsoft.com/office/drawing/2014/main" id="{6A001467-3730-4713-9565-38D5690B6428}"/>
              </a:ext>
            </a:extLst>
          </p:cNvPr>
          <p:cNvSpPr>
            <a:spLocks xmlns:a="http://schemas.openxmlformats.org/drawingml/2006/main" noGrp="1"/>
          </p:cNvSpPr>
          <p:nvPr/>
        </p:nvSpPr>
        <p:spPr>
          <a:xfrm xmlns:a="http://schemas.openxmlformats.org/drawingml/2006/main">
            <a:off x="571500" y="1981200"/>
            <a:ext cx="11049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Z80 / R800、V9968 / V9958 の起動</a:t>
            </a:r>
          </a:p>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3モードのキー切り替えとパレット変更</a:t>
            </a:r>
          </a:p>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固定姿勢で FAST と COMPAT の描画部分が一致</a:t>
            </a:r>
          </a:p>
        </p:txBody>
      </p:sp>
      <p:sp>
        <p:nvSpPr>
          <p:cNvPr id="5" name="">
            <a:extLst xmlns:a="http://schemas.openxmlformats.org/drawingml/2006/main">
              <a:ext uri="{FF2B5EF4-FFF2-40B4-BE49-F238E27FC236}">
                <a16:creationId xmlns:a16="http://schemas.microsoft.com/office/drawing/2014/main" id="{83AA94F0-AFDE-4DE1-AFB2-8002E7D63F78}"/>
              </a:ext>
            </a:extLst>
          </p:cNvPr>
          <p:cNvSpPr>
            <a:spLocks xmlns:a="http://schemas.openxmlformats.org/drawingml/2006/main" noGrp="1"/>
          </p:cNvSpPr>
          <p:nvPr/>
        </p:nvSpPr>
        <p:spPr>
          <a:xfrm xmlns:a="http://schemas.openxmlformats.org/drawingml/2006/main">
            <a:off x="571500" y="3619500"/>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91D8E8"/>
                </a:solidFill>
                <a:latin typeface="Meiryo"/>
                <a:ea typeface="Meiryo"/>
                <a:cs typeface="Meiryo"/>
              </a:defRPr>
            </a:pPr>
            <a:r>
              <a:rPr sz="2325" b="1">
                <a:solidFill>
                  <a:srgbClr val="91D8E8"/>
                </a:solidFill>
                <a:latin typeface="Meiryo"/>
                <a:ea typeface="Meiryo"/>
                <a:cs typeface="Meiryo"/>
              </a:rPr>
              <a:t>未確認</a:t>
            </a:r>
          </a:p>
        </p:txBody>
      </p:sp>
      <p:sp>
        <p:nvSpPr>
          <p:cNvPr id="6" name="">
            <a:extLst xmlns:a="http://schemas.openxmlformats.org/drawingml/2006/main">
              <a:ext uri="{FF2B5EF4-FFF2-40B4-BE49-F238E27FC236}">
                <a16:creationId xmlns:a16="http://schemas.microsoft.com/office/drawing/2014/main" id="{D13FEA87-A157-4C78-AA27-F678DC5B2BD6}"/>
              </a:ext>
            </a:extLst>
          </p:cNvPr>
          <p:cNvSpPr>
            <a:spLocks xmlns:a="http://schemas.openxmlformats.org/drawingml/2006/main" noGrp="1"/>
          </p:cNvSpPr>
          <p:nvPr/>
        </p:nvSpPr>
        <p:spPr>
          <a:xfrm xmlns:a="http://schemas.openxmlformats.org/drawingml/2006/main">
            <a:off x="571500" y="417195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AE8EE"/>
                </a:solidFill>
                <a:latin typeface="Meiryo"/>
                <a:ea typeface="Meiryo"/>
                <a:cs typeface="Meiryo"/>
              </a:defRPr>
            </a:pPr>
            <a:r>
              <a:rPr sz="2025" b="0">
                <a:solidFill>
                  <a:srgbClr val="DAE8EE"/>
                </a:solidFill>
                <a:latin typeface="Meiryo"/>
                <a:ea typeface="Meiryo"/>
                <a:cs typeface="Meiryo"/>
              </a:rPr>
              <a:t>実機での実行、V9938、別リビジョンの派生版</a:t>
            </a:r>
          </a:p>
        </p:txBody>
      </p:sp>
      <p:sp>
        <p:nvSpPr>
          <p:cNvPr id="7" name="">
            <a:extLst xmlns:a="http://schemas.openxmlformats.org/drawingml/2006/main">
              <a:ext uri="{FF2B5EF4-FFF2-40B4-BE49-F238E27FC236}">
                <a16:creationId xmlns:a16="http://schemas.microsoft.com/office/drawing/2014/main" id="{6A591729-B8CA-44D6-8FEB-32B33045CF4E}"/>
              </a:ext>
            </a:extLst>
          </p:cNvPr>
          <p:cNvSpPr>
            <a:spLocks xmlns:a="http://schemas.openxmlformats.org/drawingml/2006/main" noGrp="1"/>
          </p:cNvSpPr>
          <p:nvPr/>
        </p:nvSpPr>
        <p:spPr>
          <a:xfrm xmlns:a="http://schemas.openxmlformats.org/drawingml/2006/main">
            <a:off x="571500" y="5143500"/>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AE8EE"/>
                </a:solidFill>
                <a:latin typeface="Meiryo"/>
                <a:ea typeface="Meiryo"/>
                <a:cs typeface="Meiryo"/>
              </a:defRPr>
            </a:pPr>
            <a:r>
              <a:rPr sz="1725" b="0">
                <a:solidFill>
                  <a:srgbClr val="DAE8EE"/>
                </a:solidFill>
                <a:latin typeface="Meiryo"/>
                <a:ea typeface="Meiryo"/>
                <a:cs typeface="Meiryo"/>
              </a:rPr>
              <a:t>参考：buppu3/openMSX d884c4b の VDP.hh / VDP.cc / VDPCmdEngine.cc</a:t>
            </a:r>
          </a:p>
          <a:p xmlns:a="http://schemas.openxmlformats.org/drawingml/2006/main">
            <a:pPr>
              <a:defRPr sz="1725" b="0">
                <a:solidFill>
                  <a:srgbClr val="DAE8EE"/>
                </a:solidFill>
                <a:latin typeface="Meiryo"/>
                <a:ea typeface="Meiryo"/>
                <a:cs typeface="Meiryo"/>
              </a:defRPr>
            </a:pPr>
            <a:r>
              <a:rPr sz="1725" b="0">
                <a:solidFill>
                  <a:srgbClr val="DAE8EE"/>
                </a:solidFill>
                <a:latin typeface="Meiryo"/>
                <a:ea typeface="Meiryo"/>
                <a:cs typeface="Meiryo"/>
              </a:rPr>
              <a:t>フォント：既存デモと同じ MSX 8x8 font。配布物のフォント謝辞・条件を参照。</a:t>
            </a:r>
          </a:p>
          <a:p xmlns:a="http://schemas.openxmlformats.org/drawingml/2006/main">
            <a:pPr>
              <a:defRPr sz="1725" b="0">
                <a:solidFill>
                  <a:srgbClr val="DAE8EE"/>
                </a:solidFill>
                <a:latin typeface="Meiryo"/>
                <a:ea typeface="Meiryo"/>
                <a:cs typeface="Meiryo"/>
              </a:defRPr>
            </a:pPr>
            <a:r>
              <a:rPr sz="1725" b="0">
                <a:solidFill>
                  <a:srgbClr val="DAE8EE"/>
                </a:solidFill>
                <a:latin typeface="Meiryo"/>
                <a:ea typeface="Meiryo"/>
                <a:cs typeface="Meiryo"/>
              </a:rPr>
              <a:t>再現手順と生の測定値：比較デモの README と results.json</a:t>
            </a:r>
          </a:p>
        </p:txBody>
      </p:sp>
    </p:spTree>
    <p:extLst>
      <p:ext uri="{BB962C8B-B14F-4D97-AF65-F5344CB8AC3E}">
        <p14:creationId xmlns:p14="http://schemas.microsoft.com/office/powerpoint/2010/main" val="236520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2026-09-10T06:08:53.5620000Z</dcterms:created>
  <dcterms:modified xsi:type="dcterms:W3CDTF">2026-09-10T06:08:53.5620000Z</dcterms:modified>
</coreProperties>
</file>